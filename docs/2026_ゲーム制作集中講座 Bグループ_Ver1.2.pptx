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notesMasterIdLst>
    <p:notesMasterId r:id="rId8"/>
  </p:notesMasterIdLst>
  <p:sldIdLst>
    <p:sldId id="1073" r:id="rId2"/>
    <p:sldId id="982" r:id="rId3"/>
    <p:sldId id="1012" r:id="rId4"/>
    <p:sldId id="1074" r:id="rId5"/>
    <p:sldId id="1076" r:id="rId6"/>
    <p:sldId id="1075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CAED"/>
    <a:srgbClr val="0000FF"/>
    <a:srgbClr val="FFFF99"/>
    <a:srgbClr val="FFCCFF"/>
    <a:srgbClr val="00FF00"/>
    <a:srgbClr val="0066FF"/>
    <a:srgbClr val="CCFFFF"/>
    <a:srgbClr val="E6E6E6"/>
    <a:srgbClr val="D898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905C5F-90C7-4343-9166-AFEE1A228E26}" v="5" dt="2026-08-01T02:20:58.5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414" autoAdjust="0"/>
    <p:restoredTop sz="94660"/>
  </p:normalViewPr>
  <p:slideViewPr>
    <p:cSldViewPr snapToGrid="0">
      <p:cViewPr varScale="1">
        <p:scale>
          <a:sx n="74" d="100"/>
          <a:sy n="74" d="100"/>
        </p:scale>
        <p:origin x="8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A03B28-29D3-4E99-A0A5-253D54D03637}" type="datetimeFigureOut">
              <a:rPr kumimoji="1" lang="ja-JP" altLang="en-US" smtClean="0"/>
              <a:t>2026/8/1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E0879-B195-4ED9-906E-67BE055990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7074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E18EE0C-62F8-4239-82E1-B88F2143E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hape 96">
            <a:extLst>
              <a:ext uri="{FF2B5EF4-FFF2-40B4-BE49-F238E27FC236}">
                <a16:creationId xmlns:a16="http://schemas.microsoft.com/office/drawing/2014/main" id="{645D57EA-40B0-FE72-6556-8E1D09FC2896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ja-JP" altLang="en-US"/>
          </a:p>
        </p:txBody>
      </p:sp>
      <p:sp>
        <p:nvSpPr>
          <p:cNvPr id="57347" name="Shape 97">
            <a:extLst>
              <a:ext uri="{FF2B5EF4-FFF2-40B4-BE49-F238E27FC236}">
                <a16:creationId xmlns:a16="http://schemas.microsoft.com/office/drawing/2014/main" id="{88F5B755-E392-67CD-C32A-04C9F54286A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866631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ja-JP" sz="1200" kern="0" baseline="0" dirty="0">
              <a:solidFill>
                <a:schemeClr val="tx1"/>
              </a:solidFill>
              <a:latin typeface="+mn-ea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0FE843-D084-3446-957B-6CA67CB968F9}" type="slidenum">
              <a:rPr lang="ja-JP" altLang="en-US" smtClean="0"/>
              <a:pPr>
                <a:defRPr/>
              </a:pPr>
              <a:t>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2396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C346D-DB7A-866E-CB5B-8513C4DBB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>
            <a:extLst>
              <a:ext uri="{FF2B5EF4-FFF2-40B4-BE49-F238E27FC236}">
                <a16:creationId xmlns:a16="http://schemas.microsoft.com/office/drawing/2014/main" id="{DDAEC5F6-C8BF-A7C5-CBD2-14D873CC8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>
            <a:extLst>
              <a:ext uri="{FF2B5EF4-FFF2-40B4-BE49-F238E27FC236}">
                <a16:creationId xmlns:a16="http://schemas.microsoft.com/office/drawing/2014/main" id="{C4F58673-EFCC-E94C-EE65-DB0660D13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ja-JP" sz="1200" kern="0" baseline="0" dirty="0">
              <a:solidFill>
                <a:schemeClr val="tx1"/>
              </a:solidFill>
              <a:latin typeface="+mn-ea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4" name="スライド番号プレースホルダ 3">
            <a:extLst>
              <a:ext uri="{FF2B5EF4-FFF2-40B4-BE49-F238E27FC236}">
                <a16:creationId xmlns:a16="http://schemas.microsoft.com/office/drawing/2014/main" id="{4E5898A9-8F49-8A2B-6A3D-C5CAA3A706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0FE843-D084-3446-957B-6CA67CB968F9}" type="slidenum">
              <a:rPr lang="ja-JP" altLang="en-US" smtClean="0"/>
              <a:pPr>
                <a:defRPr/>
              </a:pPr>
              <a:t>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73695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CF05E-5A35-032A-1620-85180EB8A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>
            <a:extLst>
              <a:ext uri="{FF2B5EF4-FFF2-40B4-BE49-F238E27FC236}">
                <a16:creationId xmlns:a16="http://schemas.microsoft.com/office/drawing/2014/main" id="{363DA69A-F204-5ED1-D69C-30086DA404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>
            <a:extLst>
              <a:ext uri="{FF2B5EF4-FFF2-40B4-BE49-F238E27FC236}">
                <a16:creationId xmlns:a16="http://schemas.microsoft.com/office/drawing/2014/main" id="{E2F8C948-0FF1-2F48-4176-F26DC4BB3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ja-JP" sz="1200" kern="0" baseline="0" dirty="0">
              <a:solidFill>
                <a:schemeClr val="tx1"/>
              </a:solidFill>
              <a:latin typeface="+mn-ea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4" name="スライド番号プレースホルダ 3">
            <a:extLst>
              <a:ext uri="{FF2B5EF4-FFF2-40B4-BE49-F238E27FC236}">
                <a16:creationId xmlns:a16="http://schemas.microsoft.com/office/drawing/2014/main" id="{1E185725-B5A1-19E7-A57C-8A792DD4B2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0FE843-D084-3446-957B-6CA67CB968F9}" type="slidenum">
              <a:rPr lang="ja-JP" altLang="en-US" smtClean="0"/>
              <a:pPr>
                <a:defRPr/>
              </a:pPr>
              <a:t>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03105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正方形/長方形 100"/>
          <p:cNvSpPr/>
          <p:nvPr/>
        </p:nvSpPr>
        <p:spPr>
          <a:xfrm>
            <a:off x="0" y="-104465"/>
            <a:ext cx="9144000" cy="6962465"/>
          </a:xfrm>
          <a:prstGeom prst="rect">
            <a:avLst/>
          </a:prstGeom>
          <a:solidFill>
            <a:srgbClr val="FFFD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 dirty="0"/>
          </a:p>
        </p:txBody>
      </p:sp>
      <p:sp>
        <p:nvSpPr>
          <p:cNvPr id="9" name="正方形/長方形 8"/>
          <p:cNvSpPr/>
          <p:nvPr/>
        </p:nvSpPr>
        <p:spPr>
          <a:xfrm>
            <a:off x="0" y="6548971"/>
            <a:ext cx="9144000" cy="30903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10" name="正方形/長方形 9"/>
          <p:cNvSpPr/>
          <p:nvPr/>
        </p:nvSpPr>
        <p:spPr>
          <a:xfrm>
            <a:off x="0" y="6239937"/>
            <a:ext cx="9144000" cy="309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9451"/>
            <a:ext cx="77724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099239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103" name="正方形/長方形 102"/>
          <p:cNvSpPr/>
          <p:nvPr/>
        </p:nvSpPr>
        <p:spPr>
          <a:xfrm>
            <a:off x="0" y="204572"/>
            <a:ext cx="9144000" cy="309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104" name="正方形/長方形 103"/>
          <p:cNvSpPr/>
          <p:nvPr/>
        </p:nvSpPr>
        <p:spPr>
          <a:xfrm>
            <a:off x="0" y="-104465"/>
            <a:ext cx="7614745" cy="30903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pic>
        <p:nvPicPr>
          <p:cNvPr id="4" name="図 3" descr="テキスト が含まれている画像&#10;&#10;自動的に生成された説明">
            <a:extLst>
              <a:ext uri="{FF2B5EF4-FFF2-40B4-BE49-F238E27FC236}">
                <a16:creationId xmlns:a16="http://schemas.microsoft.com/office/drawing/2014/main" id="{3ADFE547-66D8-A537-91B5-0625BE515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745" y="-110366"/>
            <a:ext cx="1529255" cy="43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187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05097" y="6451996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2021/1/24</a:t>
            </a:r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0825" y="6427605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共創イノベーション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E306-C438-4B8F-8E66-DBADAD804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4625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05097" y="6451996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2021/1/24</a:t>
            </a:r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0825" y="6427605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共創イノベーション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E306-C438-4B8F-8E66-DBADAD804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0212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5098" y="1421163"/>
            <a:ext cx="4309753" cy="475580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1163"/>
            <a:ext cx="4398737" cy="475580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05097" y="6451996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2021/1/24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40825" y="6427605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共創イノベーション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E306-C438-4B8F-8E66-DBADAD804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5503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6" y="365130"/>
            <a:ext cx="8954036" cy="69214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4" y="1269207"/>
            <a:ext cx="4412457" cy="823912"/>
          </a:xfrm>
        </p:spPr>
        <p:txBody>
          <a:bodyPr anchor="b">
            <a:noAutofit/>
          </a:bodyPr>
          <a:lstStyle>
            <a:lvl1pPr marL="0" indent="0">
              <a:buNone/>
              <a:defRPr sz="21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6" y="2093119"/>
            <a:ext cx="4412457" cy="409654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9207"/>
            <a:ext cx="4410611" cy="823912"/>
          </a:xfrm>
        </p:spPr>
        <p:txBody>
          <a:bodyPr anchor="b">
            <a:noAutofit/>
          </a:bodyPr>
          <a:lstStyle>
            <a:lvl1pPr marL="0" indent="0">
              <a:buNone/>
              <a:defRPr sz="21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093119"/>
            <a:ext cx="4410610" cy="409654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05097" y="6451996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2021/1/24</a:t>
            </a:r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0825" y="6427605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共創イノベーション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E306-C438-4B8F-8E66-DBADAD804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4948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5097" y="6451996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2021/1/24</a:t>
            </a:r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0825" y="6427605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共創イノベーション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E306-C438-4B8F-8E66-DBADAD804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4051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05097" y="6451996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2021/1/24</a:t>
            </a:r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40825" y="6427605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共創イノベーション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E306-C438-4B8F-8E66-DBADAD804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0374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05097" y="6451996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2021/1/24</a:t>
            </a:r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0825" y="6427605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共創イノベーション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E306-C438-4B8F-8E66-DBADAD804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1283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D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3223" y="270893"/>
            <a:ext cx="8834664" cy="8996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222" y="1228457"/>
            <a:ext cx="8834664" cy="49898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82361" y="6453748"/>
            <a:ext cx="2057400" cy="365125"/>
          </a:xfrm>
          <a:prstGeom prst="rect">
            <a:avLst/>
          </a:prstGeom>
          <a:solidFill>
            <a:srgbClr val="FFFDF0">
              <a:alpha val="50000"/>
            </a:srgbClr>
          </a:solidFill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4C52E306-C438-4B8F-8E66-DBADAD804C4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B6947DE-8FB9-69C6-80E8-DEE257CD0018}"/>
              </a:ext>
            </a:extLst>
          </p:cNvPr>
          <p:cNvSpPr/>
          <p:nvPr userDrawn="1"/>
        </p:nvSpPr>
        <p:spPr>
          <a:xfrm>
            <a:off x="0" y="6548971"/>
            <a:ext cx="9144000" cy="30903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44B41A3-EE1B-C4C1-6DD3-1E413E71A647}"/>
              </a:ext>
            </a:extLst>
          </p:cNvPr>
          <p:cNvSpPr/>
          <p:nvPr userDrawn="1"/>
        </p:nvSpPr>
        <p:spPr>
          <a:xfrm>
            <a:off x="0" y="-1986"/>
            <a:ext cx="7614745" cy="30903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pic>
        <p:nvPicPr>
          <p:cNvPr id="5" name="図 4" descr="テキスト が含まれている画像&#10;&#10;自動的に生成された説明">
            <a:extLst>
              <a:ext uri="{FF2B5EF4-FFF2-40B4-BE49-F238E27FC236}">
                <a16:creationId xmlns:a16="http://schemas.microsoft.com/office/drawing/2014/main" id="{A7939920-09DB-66B2-4BB9-F1A6B72EA4F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745" y="-4"/>
            <a:ext cx="1529255" cy="43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357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9C589-A313-F763-0F25-A17B366E8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91E94EC-E539-66EF-1218-5D6D172B986D}"/>
              </a:ext>
            </a:extLst>
          </p:cNvPr>
          <p:cNvSpPr txBox="1"/>
          <p:nvPr/>
        </p:nvSpPr>
        <p:spPr>
          <a:xfrm>
            <a:off x="713254" y="1720840"/>
            <a:ext cx="798341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4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ゲームタイトル：</a:t>
            </a:r>
            <a:endParaRPr kumimoji="1" lang="en-US" altLang="ja-JP" sz="48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pPr algn="l"/>
            <a:r>
              <a:rPr kumimoji="1" lang="ja-JP" altLang="en-US" sz="4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「マンジャロランナー」</a:t>
            </a:r>
            <a:endParaRPr kumimoji="1" lang="en-US" altLang="ja-JP" sz="48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pPr algn="l"/>
            <a:r>
              <a:rPr kumimoji="1" lang="ja-JP" altLang="en-US" sz="4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 チーム</a:t>
            </a:r>
            <a:r>
              <a:rPr kumimoji="1" lang="en-US" altLang="ja-JP" sz="4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B</a:t>
            </a:r>
          </a:p>
          <a:p>
            <a:pPr algn="l"/>
            <a:r>
              <a:rPr kumimoji="1" lang="ja-JP" altLang="en-US" sz="2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　メンバー：宮竹楽人　</a:t>
            </a:r>
            <a:r>
              <a:rPr kumimoji="1" lang="en-US" altLang="ja-JP" sz="2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3</a:t>
            </a:r>
            <a:r>
              <a:rPr kumimoji="1" lang="ja-JP" altLang="en-US" sz="2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年　担当　リーダー</a:t>
            </a:r>
            <a:endParaRPr kumimoji="1" lang="en-US" altLang="ja-JP" sz="28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kumimoji="1" lang="ja-JP" altLang="en-US" sz="2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　メンバー：藤原颯馬　</a:t>
            </a:r>
            <a:r>
              <a:rPr kumimoji="1" lang="en-US" altLang="ja-JP" sz="2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2</a:t>
            </a:r>
            <a:r>
              <a:rPr kumimoji="1" lang="ja-JP" altLang="en-US" sz="2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年　担当　メインプログラマ</a:t>
            </a:r>
            <a:endParaRPr kumimoji="1" lang="en-US" altLang="ja-JP" sz="28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kumimoji="1" lang="ja-JP" altLang="en-US" sz="2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　メンバー：山上伊織　</a:t>
            </a:r>
            <a:r>
              <a:rPr kumimoji="1" lang="en-US" altLang="ja-JP" sz="2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1</a:t>
            </a:r>
            <a:r>
              <a:rPr kumimoji="1" lang="ja-JP" altLang="en-US" sz="2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年　担当　プログラマ</a:t>
            </a:r>
            <a:endParaRPr kumimoji="1" lang="en-US" altLang="ja-JP" sz="28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02988399"/>
      </p:ext>
    </p:extLst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図 108">
            <a:extLst>
              <a:ext uri="{FF2B5EF4-FFF2-40B4-BE49-F238E27FC236}">
                <a16:creationId xmlns:a16="http://schemas.microsoft.com/office/drawing/2014/main" id="{0D62C35F-9A22-F8BC-4748-1BCFAC753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108" y="7239903"/>
            <a:ext cx="1787741" cy="593884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CBE061F-12DD-5150-8E8B-ACB01212B34F}"/>
              </a:ext>
            </a:extLst>
          </p:cNvPr>
          <p:cNvSpPr/>
          <p:nvPr/>
        </p:nvSpPr>
        <p:spPr bwMode="auto">
          <a:xfrm>
            <a:off x="177250" y="4968130"/>
            <a:ext cx="8790616" cy="1392513"/>
          </a:xfrm>
          <a:prstGeom prst="rect">
            <a:avLst/>
          </a:prstGeom>
          <a:noFill/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t" anchorCtr="0" compatLnSpc="1">
            <a:prstTxWarp prst="textNoShape">
              <a:avLst/>
            </a:prstTxWarp>
          </a:bodyPr>
          <a:lstStyle/>
          <a:p>
            <a:pPr defTabSz="642979"/>
            <a:r>
              <a:rPr lang="ja-JP" altLang="en-US" sz="2000" i="1" dirty="0">
                <a:solidFill>
                  <a:srgbClr val="000000"/>
                </a:solidFill>
                <a:latin typeface="Calibri" pitchFamily="34" charset="0"/>
                <a:ea typeface="メイリオ" pitchFamily="50" charset="-128"/>
                <a:cs typeface="メイリオ" pitchFamily="50" charset="-128"/>
              </a:rPr>
              <a:t>ぽっちゃりお兄さんが日本全国計</a:t>
            </a:r>
            <a:r>
              <a:rPr lang="en-US" altLang="ja-JP" sz="2000" i="1" dirty="0">
                <a:solidFill>
                  <a:srgbClr val="000000"/>
                </a:solidFill>
                <a:latin typeface="Calibri" pitchFamily="34" charset="0"/>
                <a:ea typeface="メイリオ" pitchFamily="50" charset="-128"/>
                <a:cs typeface="メイリオ" pitchFamily="50" charset="-128"/>
              </a:rPr>
              <a:t>4</a:t>
            </a:r>
            <a:r>
              <a:rPr lang="ja-JP" altLang="en-US" sz="2000" i="1" dirty="0">
                <a:solidFill>
                  <a:srgbClr val="000000"/>
                </a:solidFill>
                <a:latin typeface="Calibri" pitchFamily="34" charset="0"/>
                <a:ea typeface="メイリオ" pitchFamily="50" charset="-128"/>
                <a:cs typeface="メイリオ" pitchFamily="50" charset="-128"/>
              </a:rPr>
              <a:t>ステージを左右に操作して走りながら血糖値を保ちながらステージをクリアしていき、北海道までの日本縦断を目指すスクロール</a:t>
            </a:r>
            <a:r>
              <a:rPr lang="en-US" altLang="ja-JP" sz="2000" i="1" dirty="0">
                <a:solidFill>
                  <a:srgbClr val="000000"/>
                </a:solidFill>
                <a:latin typeface="Calibri" pitchFamily="34" charset="0"/>
                <a:ea typeface="メイリオ" pitchFamily="50" charset="-128"/>
                <a:cs typeface="メイリオ" pitchFamily="50" charset="-128"/>
              </a:rPr>
              <a:t>3D</a:t>
            </a:r>
            <a:r>
              <a:rPr lang="ja-JP" altLang="en-US" sz="2000" i="1" dirty="0">
                <a:solidFill>
                  <a:srgbClr val="000000"/>
                </a:solidFill>
                <a:latin typeface="Calibri" pitchFamily="34" charset="0"/>
                <a:ea typeface="メイリオ" pitchFamily="50" charset="-128"/>
                <a:cs typeface="メイリオ" pitchFamily="50" charset="-128"/>
              </a:rPr>
              <a:t>アクションゲーム。</a:t>
            </a:r>
          </a:p>
        </p:txBody>
      </p:sp>
      <p:sp>
        <p:nvSpPr>
          <p:cNvPr id="16" name="四角形: 角を丸くする 1">
            <a:extLst>
              <a:ext uri="{FF2B5EF4-FFF2-40B4-BE49-F238E27FC236}">
                <a16:creationId xmlns:a16="http://schemas.microsoft.com/office/drawing/2014/main" id="{D17AD49A-211D-331F-EF0A-A257723A2F4D}"/>
              </a:ext>
            </a:extLst>
          </p:cNvPr>
          <p:cNvSpPr/>
          <p:nvPr/>
        </p:nvSpPr>
        <p:spPr bwMode="auto">
          <a:xfrm>
            <a:off x="65875" y="977834"/>
            <a:ext cx="1215283" cy="702241"/>
          </a:xfrm>
          <a:prstGeom prst="roundRect">
            <a:avLst/>
          </a:prstGeom>
          <a:solidFill>
            <a:srgbClr val="CCFFFF"/>
          </a:solidFill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ctr" anchorCtr="0" compatLnSpc="1">
            <a:prstTxWarp prst="textNoShape">
              <a:avLst/>
            </a:prstTxWarp>
          </a:bodyPr>
          <a:lstStyle/>
          <a:p>
            <a:pPr defTabSz="642979"/>
            <a:r>
              <a:rPr lang="ja-JP" altLang="en-US" sz="1687" dirty="0">
                <a:solidFill>
                  <a:srgbClr val="00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タイトル</a:t>
            </a:r>
          </a:p>
        </p:txBody>
      </p:sp>
      <p:sp>
        <p:nvSpPr>
          <p:cNvPr id="17" name="四角形: 角を丸くする 10">
            <a:extLst>
              <a:ext uri="{FF2B5EF4-FFF2-40B4-BE49-F238E27FC236}">
                <a16:creationId xmlns:a16="http://schemas.microsoft.com/office/drawing/2014/main" id="{4DE40F59-B40B-776A-D76D-25B262D6435E}"/>
              </a:ext>
            </a:extLst>
          </p:cNvPr>
          <p:cNvSpPr/>
          <p:nvPr/>
        </p:nvSpPr>
        <p:spPr bwMode="auto">
          <a:xfrm>
            <a:off x="1389846" y="963666"/>
            <a:ext cx="6826918" cy="702241"/>
          </a:xfrm>
          <a:prstGeom prst="roundRect">
            <a:avLst/>
          </a:prstGeom>
          <a:noFill/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ctr" anchorCtr="0" compatLnSpc="1">
            <a:prstTxWarp prst="textNoShape">
              <a:avLst/>
            </a:prstTxWarp>
          </a:bodyPr>
          <a:lstStyle/>
          <a:p>
            <a:endParaRPr lang="ja-JP" altLang="en-US" sz="1266" dirty="0">
              <a:solidFill>
                <a:schemeClr val="tx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18" name="矢印: 下 4">
            <a:extLst>
              <a:ext uri="{FF2B5EF4-FFF2-40B4-BE49-F238E27FC236}">
                <a16:creationId xmlns:a16="http://schemas.microsoft.com/office/drawing/2014/main" id="{EA8502D3-3292-0D57-5463-AF991D857D01}"/>
              </a:ext>
            </a:extLst>
          </p:cNvPr>
          <p:cNvSpPr/>
          <p:nvPr/>
        </p:nvSpPr>
        <p:spPr bwMode="auto">
          <a:xfrm>
            <a:off x="3274267" y="4210361"/>
            <a:ext cx="2595466" cy="703117"/>
          </a:xfrm>
          <a:prstGeom prst="downArrow">
            <a:avLst>
              <a:gd name="adj1" fmla="val 68072"/>
              <a:gd name="adj2" fmla="val 35387"/>
            </a:avLst>
          </a:prstGeom>
          <a:solidFill>
            <a:srgbClr val="FF0000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t" anchorCtr="0" compatLnSpc="1">
            <a:prstTxWarp prst="textNoShape">
              <a:avLst/>
            </a:prstTxWarp>
          </a:bodyPr>
          <a:lstStyle/>
          <a:p>
            <a:pPr defTabSz="642979"/>
            <a:endParaRPr lang="ja-JP" altLang="en-US" sz="1266">
              <a:solidFill>
                <a:srgbClr val="000000"/>
              </a:solidFill>
              <a:latin typeface="Calibri" pitchFamily="34" charset="0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9" name="四角形: 角を丸くする 20">
            <a:extLst>
              <a:ext uri="{FF2B5EF4-FFF2-40B4-BE49-F238E27FC236}">
                <a16:creationId xmlns:a16="http://schemas.microsoft.com/office/drawing/2014/main" id="{7670A9B2-CC48-7C4D-4721-6D58E55355C4}"/>
              </a:ext>
            </a:extLst>
          </p:cNvPr>
          <p:cNvSpPr/>
          <p:nvPr/>
        </p:nvSpPr>
        <p:spPr bwMode="auto">
          <a:xfrm>
            <a:off x="167156" y="4417927"/>
            <a:ext cx="3230662" cy="506368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ctr" anchorCtr="0" compatLnSpc="1">
            <a:prstTxWarp prst="textNoShape">
              <a:avLst/>
            </a:prstTxWarp>
          </a:bodyPr>
          <a:lstStyle/>
          <a:p>
            <a:pPr defTabSz="642979"/>
            <a:r>
              <a:rPr lang="ja-JP" altLang="en-US" sz="2812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ゲーム概要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D2DD568-A08B-76FF-DAFF-A86259895F29}"/>
              </a:ext>
            </a:extLst>
          </p:cNvPr>
          <p:cNvSpPr/>
          <p:nvPr/>
        </p:nvSpPr>
        <p:spPr bwMode="auto">
          <a:xfrm>
            <a:off x="65883" y="2085002"/>
            <a:ext cx="2936935" cy="874673"/>
          </a:xfrm>
          <a:prstGeom prst="rect">
            <a:avLst/>
          </a:prstGeom>
          <a:noFill/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t" anchorCtr="0" compatLnSpc="1">
            <a:prstTxWarp prst="textNoShape">
              <a:avLst/>
            </a:prstTxWarp>
          </a:bodyPr>
          <a:lstStyle/>
          <a:p>
            <a:pPr defTabSz="642979"/>
            <a:endParaRPr lang="ja-JP" altLang="en-US" sz="1266">
              <a:solidFill>
                <a:srgbClr val="000000"/>
              </a:solidFill>
              <a:latin typeface="Calibri" pitchFamily="34" charset="0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1" name="四角形: 角を丸くする 32">
            <a:extLst>
              <a:ext uri="{FF2B5EF4-FFF2-40B4-BE49-F238E27FC236}">
                <a16:creationId xmlns:a16="http://schemas.microsoft.com/office/drawing/2014/main" id="{EFEF3D58-0FA7-1340-6795-E14FADB7052F}"/>
              </a:ext>
            </a:extLst>
          </p:cNvPr>
          <p:cNvSpPr/>
          <p:nvPr/>
        </p:nvSpPr>
        <p:spPr bwMode="auto">
          <a:xfrm>
            <a:off x="65883" y="1809181"/>
            <a:ext cx="2228020" cy="506368"/>
          </a:xfrm>
          <a:prstGeom prst="roundRect">
            <a:avLst/>
          </a:prstGeom>
          <a:solidFill>
            <a:srgbClr val="CCFFFF"/>
          </a:solidFill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ctr" anchorCtr="0" compatLnSpc="1">
            <a:prstTxWarp prst="textNoShape">
              <a:avLst/>
            </a:prstTxWarp>
          </a:bodyPr>
          <a:lstStyle/>
          <a:p>
            <a:pPr defTabSz="642979"/>
            <a:r>
              <a:rPr lang="ja-JP" altLang="en-US" sz="1687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主人公</a:t>
            </a:r>
            <a:r>
              <a:rPr lang="ja-JP" altLang="en-US" sz="1687" dirty="0">
                <a:solidFill>
                  <a:srgbClr val="00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は？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36E21F5-6A12-FD69-C78B-6C9CE4A20D2E}"/>
              </a:ext>
            </a:extLst>
          </p:cNvPr>
          <p:cNvSpPr/>
          <p:nvPr/>
        </p:nvSpPr>
        <p:spPr bwMode="auto">
          <a:xfrm>
            <a:off x="3104091" y="2085002"/>
            <a:ext cx="2936935" cy="874673"/>
          </a:xfrm>
          <a:prstGeom prst="rect">
            <a:avLst/>
          </a:prstGeom>
          <a:noFill/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t" anchorCtr="0" compatLnSpc="1">
            <a:prstTxWarp prst="textNoShape">
              <a:avLst/>
            </a:prstTxWarp>
          </a:bodyPr>
          <a:lstStyle/>
          <a:p>
            <a:pPr defTabSz="642979"/>
            <a:endParaRPr lang="ja-JP" altLang="en-US" sz="1266">
              <a:solidFill>
                <a:srgbClr val="000000"/>
              </a:solidFill>
              <a:latin typeface="Calibri" pitchFamily="34" charset="0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3" name="四角形: 角を丸くする 34">
            <a:extLst>
              <a:ext uri="{FF2B5EF4-FFF2-40B4-BE49-F238E27FC236}">
                <a16:creationId xmlns:a16="http://schemas.microsoft.com/office/drawing/2014/main" id="{F75B0448-4FE9-56A6-280D-17521D2727FF}"/>
              </a:ext>
            </a:extLst>
          </p:cNvPr>
          <p:cNvSpPr/>
          <p:nvPr/>
        </p:nvSpPr>
        <p:spPr bwMode="auto">
          <a:xfrm>
            <a:off x="3104091" y="1809181"/>
            <a:ext cx="2228020" cy="506368"/>
          </a:xfrm>
          <a:prstGeom prst="roundRect">
            <a:avLst/>
          </a:prstGeom>
          <a:solidFill>
            <a:srgbClr val="CCFFFF"/>
          </a:solidFill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ctr" anchorCtr="0" compatLnSpc="1">
            <a:prstTxWarp prst="textNoShape">
              <a:avLst/>
            </a:prstTxWarp>
          </a:bodyPr>
          <a:lstStyle/>
          <a:p>
            <a:pPr defTabSz="642979"/>
            <a:r>
              <a:rPr lang="ja-JP" altLang="en-US" sz="1266" dirty="0">
                <a:solidFill>
                  <a:srgbClr val="00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繰り返す</a:t>
            </a:r>
            <a:r>
              <a:rPr lang="ja-JP" altLang="en-US" sz="1266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手段</a:t>
            </a:r>
            <a:r>
              <a:rPr lang="ja-JP" altLang="en-US" sz="1266" dirty="0">
                <a:solidFill>
                  <a:srgbClr val="00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は？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EF817DA-E882-3F85-858A-68B46EC020BA}"/>
              </a:ext>
            </a:extLst>
          </p:cNvPr>
          <p:cNvSpPr/>
          <p:nvPr/>
        </p:nvSpPr>
        <p:spPr bwMode="auto">
          <a:xfrm>
            <a:off x="6142300" y="2085002"/>
            <a:ext cx="2936935" cy="874673"/>
          </a:xfrm>
          <a:prstGeom prst="rect">
            <a:avLst/>
          </a:prstGeom>
          <a:noFill/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t" anchorCtr="0" compatLnSpc="1">
            <a:prstTxWarp prst="textNoShape">
              <a:avLst/>
            </a:prstTxWarp>
          </a:bodyPr>
          <a:lstStyle/>
          <a:p>
            <a:pPr defTabSz="642979"/>
            <a:endParaRPr lang="ja-JP" altLang="en-US" sz="1266">
              <a:solidFill>
                <a:srgbClr val="000000"/>
              </a:solidFill>
              <a:latin typeface="Calibri" pitchFamily="34" charset="0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5" name="四角形: 角を丸くする 36">
            <a:extLst>
              <a:ext uri="{FF2B5EF4-FFF2-40B4-BE49-F238E27FC236}">
                <a16:creationId xmlns:a16="http://schemas.microsoft.com/office/drawing/2014/main" id="{3007B8D4-1C53-4483-CEA6-1E367A65E7EB}"/>
              </a:ext>
            </a:extLst>
          </p:cNvPr>
          <p:cNvSpPr/>
          <p:nvPr/>
        </p:nvSpPr>
        <p:spPr bwMode="auto">
          <a:xfrm>
            <a:off x="6142300" y="1809181"/>
            <a:ext cx="2228020" cy="506368"/>
          </a:xfrm>
          <a:prstGeom prst="roundRect">
            <a:avLst/>
          </a:prstGeom>
          <a:solidFill>
            <a:srgbClr val="CCFFFF"/>
          </a:solidFill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ctr" anchorCtr="0" compatLnSpc="1">
            <a:prstTxWarp prst="textNoShape">
              <a:avLst/>
            </a:prstTxWarp>
          </a:bodyPr>
          <a:lstStyle/>
          <a:p>
            <a:pPr defTabSz="642979"/>
            <a:r>
              <a:rPr lang="ja-JP" altLang="en-US" sz="1266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小目的</a:t>
            </a:r>
            <a:r>
              <a:rPr lang="ja-JP" altLang="en-US" sz="1266" dirty="0">
                <a:solidFill>
                  <a:srgbClr val="00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は？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421DAFFA-F522-8537-6A97-B4AB5156C89C}"/>
              </a:ext>
            </a:extLst>
          </p:cNvPr>
          <p:cNvSpPr/>
          <p:nvPr/>
        </p:nvSpPr>
        <p:spPr bwMode="auto">
          <a:xfrm>
            <a:off x="65883" y="3263802"/>
            <a:ext cx="2936935" cy="874673"/>
          </a:xfrm>
          <a:prstGeom prst="rect">
            <a:avLst/>
          </a:prstGeom>
          <a:noFill/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t" anchorCtr="0" compatLnSpc="1">
            <a:prstTxWarp prst="textNoShape">
              <a:avLst/>
            </a:prstTxWarp>
          </a:bodyPr>
          <a:lstStyle/>
          <a:p>
            <a:pPr defTabSz="642979"/>
            <a:endParaRPr lang="ja-JP" altLang="en-US" sz="1266">
              <a:solidFill>
                <a:srgbClr val="000000"/>
              </a:solidFill>
              <a:latin typeface="Calibri" pitchFamily="34" charset="0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9" name="四角形: 角を丸くする 23">
            <a:extLst>
              <a:ext uri="{FF2B5EF4-FFF2-40B4-BE49-F238E27FC236}">
                <a16:creationId xmlns:a16="http://schemas.microsoft.com/office/drawing/2014/main" id="{1DD5F331-A470-B9BE-E7F7-D39D6D73A5EE}"/>
              </a:ext>
            </a:extLst>
          </p:cNvPr>
          <p:cNvSpPr/>
          <p:nvPr/>
        </p:nvSpPr>
        <p:spPr bwMode="auto">
          <a:xfrm>
            <a:off x="65883" y="2987980"/>
            <a:ext cx="2228020" cy="506368"/>
          </a:xfrm>
          <a:prstGeom prst="roundRect">
            <a:avLst/>
          </a:prstGeom>
          <a:solidFill>
            <a:srgbClr val="CCFFFF"/>
          </a:solidFill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ctr" anchorCtr="0" compatLnSpc="1">
            <a:prstTxWarp prst="textNoShape">
              <a:avLst/>
            </a:prstTxWarp>
          </a:bodyPr>
          <a:lstStyle/>
          <a:p>
            <a:pPr defTabSz="642979"/>
            <a:r>
              <a:rPr lang="ja-JP" altLang="en-US" sz="1266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ステージ・フィールド</a:t>
            </a:r>
            <a:r>
              <a:rPr lang="ja-JP" altLang="en-US" sz="1266" dirty="0">
                <a:solidFill>
                  <a:srgbClr val="00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は？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16E0C100-FD55-69C2-F4C8-FF66BC3CEC2E}"/>
              </a:ext>
            </a:extLst>
          </p:cNvPr>
          <p:cNvSpPr/>
          <p:nvPr/>
        </p:nvSpPr>
        <p:spPr bwMode="auto">
          <a:xfrm>
            <a:off x="3104091" y="3263802"/>
            <a:ext cx="2936935" cy="874673"/>
          </a:xfrm>
          <a:prstGeom prst="rect">
            <a:avLst/>
          </a:prstGeom>
          <a:noFill/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t" anchorCtr="0" compatLnSpc="1">
            <a:prstTxWarp prst="textNoShape">
              <a:avLst/>
            </a:prstTxWarp>
          </a:bodyPr>
          <a:lstStyle/>
          <a:p>
            <a:pPr defTabSz="642979"/>
            <a:endParaRPr lang="ja-JP" altLang="en-US" sz="1266">
              <a:solidFill>
                <a:srgbClr val="000000"/>
              </a:solidFill>
              <a:latin typeface="Calibri" pitchFamily="34" charset="0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31" name="四角形: 角を丸くする 25">
            <a:extLst>
              <a:ext uri="{FF2B5EF4-FFF2-40B4-BE49-F238E27FC236}">
                <a16:creationId xmlns:a16="http://schemas.microsoft.com/office/drawing/2014/main" id="{47E84509-D4AF-CAA5-9474-A58B5751A04F}"/>
              </a:ext>
            </a:extLst>
          </p:cNvPr>
          <p:cNvSpPr/>
          <p:nvPr/>
        </p:nvSpPr>
        <p:spPr bwMode="auto">
          <a:xfrm>
            <a:off x="3104091" y="2987980"/>
            <a:ext cx="2228020" cy="506368"/>
          </a:xfrm>
          <a:prstGeom prst="roundRect">
            <a:avLst/>
          </a:prstGeom>
          <a:solidFill>
            <a:srgbClr val="CCFFFF"/>
          </a:solidFill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ctr" anchorCtr="0" compatLnSpc="1">
            <a:prstTxWarp prst="textNoShape">
              <a:avLst/>
            </a:prstTxWarp>
          </a:bodyPr>
          <a:lstStyle/>
          <a:p>
            <a:pPr defTabSz="642979"/>
            <a:r>
              <a:rPr lang="ja-JP" altLang="en-US" sz="1266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大目的・最終目的</a:t>
            </a:r>
            <a:r>
              <a:rPr lang="ja-JP" altLang="en-US" sz="1266" dirty="0">
                <a:solidFill>
                  <a:srgbClr val="00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は？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891C154-9703-A9F2-BB41-84C97026B5D6}"/>
              </a:ext>
            </a:extLst>
          </p:cNvPr>
          <p:cNvSpPr/>
          <p:nvPr/>
        </p:nvSpPr>
        <p:spPr bwMode="auto">
          <a:xfrm>
            <a:off x="6142300" y="3263802"/>
            <a:ext cx="2936935" cy="874673"/>
          </a:xfrm>
          <a:prstGeom prst="rect">
            <a:avLst/>
          </a:prstGeom>
          <a:noFill/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b" anchorCtr="0" compatLnSpc="1">
            <a:prstTxWarp prst="textNoShape">
              <a:avLst/>
            </a:prstTxWarp>
          </a:bodyPr>
          <a:lstStyle/>
          <a:p>
            <a:pPr defTabSz="642979"/>
            <a:endParaRPr lang="ja-JP" altLang="en-US" sz="1687" dirty="0">
              <a:solidFill>
                <a:srgbClr val="000000"/>
              </a:solidFill>
              <a:latin typeface="Calibri" pitchFamily="34" charset="0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33" name="四角形: 角を丸くする 27">
            <a:extLst>
              <a:ext uri="{FF2B5EF4-FFF2-40B4-BE49-F238E27FC236}">
                <a16:creationId xmlns:a16="http://schemas.microsoft.com/office/drawing/2014/main" id="{21812A83-8187-F208-037E-E85770CF0317}"/>
              </a:ext>
            </a:extLst>
          </p:cNvPr>
          <p:cNvSpPr/>
          <p:nvPr/>
        </p:nvSpPr>
        <p:spPr bwMode="auto">
          <a:xfrm>
            <a:off x="6142300" y="2987980"/>
            <a:ext cx="2228020" cy="506368"/>
          </a:xfrm>
          <a:prstGeom prst="roundRect">
            <a:avLst/>
          </a:prstGeom>
          <a:solidFill>
            <a:srgbClr val="CCFFFF"/>
          </a:solidFill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ctr" anchorCtr="0" compatLnSpc="1">
            <a:prstTxWarp prst="textNoShape">
              <a:avLst/>
            </a:prstTxWarp>
          </a:bodyPr>
          <a:lstStyle/>
          <a:p>
            <a:pPr defTabSz="642979"/>
            <a:r>
              <a:rPr lang="ja-JP" altLang="en-US" sz="1266" dirty="0">
                <a:solidFill>
                  <a:srgbClr val="00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どんな</a:t>
            </a:r>
            <a:r>
              <a:rPr lang="ja-JP" altLang="en-US" sz="1266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ジャンル</a:t>
            </a:r>
            <a:r>
              <a:rPr lang="ja-JP" altLang="en-US" sz="1266" dirty="0">
                <a:solidFill>
                  <a:srgbClr val="00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のゲーム？</a:t>
            </a:r>
          </a:p>
        </p:txBody>
      </p:sp>
      <p:sp>
        <p:nvSpPr>
          <p:cNvPr id="3" name="吹き出し: 角を丸めた四角形 2">
            <a:extLst>
              <a:ext uri="{FF2B5EF4-FFF2-40B4-BE49-F238E27FC236}">
                <a16:creationId xmlns:a16="http://schemas.microsoft.com/office/drawing/2014/main" id="{96222ECA-028F-D820-38EE-4C41622CC33B}"/>
              </a:ext>
            </a:extLst>
          </p:cNvPr>
          <p:cNvSpPr/>
          <p:nvPr/>
        </p:nvSpPr>
        <p:spPr bwMode="auto">
          <a:xfrm>
            <a:off x="5832719" y="4308336"/>
            <a:ext cx="3230662" cy="491839"/>
          </a:xfrm>
          <a:prstGeom prst="wedgeRoundRectCallout">
            <a:avLst>
              <a:gd name="adj1" fmla="val 12150"/>
              <a:gd name="adj2" fmla="val 80937"/>
              <a:gd name="adj3" fmla="val 16667"/>
            </a:avLst>
          </a:prstGeom>
          <a:solidFill>
            <a:srgbClr val="00FF00"/>
          </a:solidFill>
          <a:ln>
            <a:solidFill>
              <a:srgbClr val="DC045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t" anchorCtr="0" compatLnSpc="1">
            <a:prstTxWarp prst="textNoShape">
              <a:avLst/>
            </a:prstTxWarp>
          </a:bodyPr>
          <a:lstStyle/>
          <a:p>
            <a:pPr defTabSz="642979"/>
            <a:r>
              <a:rPr lang="ja-JP" altLang="en-US" sz="225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この文法 必ず守ること！</a:t>
            </a:r>
          </a:p>
        </p:txBody>
      </p:sp>
      <p:sp>
        <p:nvSpPr>
          <p:cNvPr id="4" name="四角形: 角を丸くする 10">
            <a:extLst>
              <a:ext uri="{FF2B5EF4-FFF2-40B4-BE49-F238E27FC236}">
                <a16:creationId xmlns:a16="http://schemas.microsoft.com/office/drawing/2014/main" id="{D9013D6A-441B-F545-8210-F960A5882460}"/>
              </a:ext>
            </a:extLst>
          </p:cNvPr>
          <p:cNvSpPr/>
          <p:nvPr/>
        </p:nvSpPr>
        <p:spPr bwMode="auto">
          <a:xfrm>
            <a:off x="5869733" y="348825"/>
            <a:ext cx="3193518" cy="491218"/>
          </a:xfrm>
          <a:prstGeom prst="roundRect">
            <a:avLst/>
          </a:prstGeom>
          <a:noFill/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ja-JP" altLang="en-US" sz="844" dirty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チーム名</a:t>
            </a:r>
          </a:p>
        </p:txBody>
      </p:sp>
      <p:sp>
        <p:nvSpPr>
          <p:cNvPr id="5" name="額縁 5">
            <a:extLst>
              <a:ext uri="{FF2B5EF4-FFF2-40B4-BE49-F238E27FC236}">
                <a16:creationId xmlns:a16="http://schemas.microsoft.com/office/drawing/2014/main" id="{9165463E-A37D-A2D7-7DF6-A0F8C7ADEDE2}"/>
              </a:ext>
            </a:extLst>
          </p:cNvPr>
          <p:cNvSpPr/>
          <p:nvPr/>
        </p:nvSpPr>
        <p:spPr bwMode="auto">
          <a:xfrm>
            <a:off x="65875" y="367293"/>
            <a:ext cx="5649126" cy="556937"/>
          </a:xfrm>
          <a:prstGeom prst="bevel">
            <a:avLst/>
          </a:prstGeom>
          <a:solidFill>
            <a:srgbClr val="0000FF"/>
          </a:solidFill>
          <a:ln>
            <a:solidFill>
              <a:schemeClr val="accent3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294" tIns="32147" rIns="64294" bIns="32147" numCol="1" rtlCol="0" anchor="t" anchorCtr="0" compatLnSpc="1">
            <a:prstTxWarp prst="textNoShape">
              <a:avLst/>
            </a:prstTxWarp>
          </a:bodyPr>
          <a:lstStyle/>
          <a:p>
            <a:pPr defTabSz="642915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2531" dirty="0">
                <a:solidFill>
                  <a:schemeClr val="bg1"/>
                </a:solidFill>
                <a:latin typeface="HGP創英角ｺﾞｼｯｸUB" panose="020B0A00000000000000" pitchFamily="50" charset="-128"/>
                <a:ea typeface="HGP創英角ｺﾞｼｯｸUB" panose="020B0A00000000000000" pitchFamily="50" charset="-128"/>
                <a:cs typeface="メイリオ" pitchFamily="50" charset="-128"/>
                <a:sym typeface="ヒラギノ角ゴ Pro W3" pitchFamily="-84" charset="-128"/>
              </a:rPr>
              <a:t>シート❶　ゲーム概要　作成シート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770C563-AC2B-121C-CF88-D9DAE81600B7}"/>
              </a:ext>
            </a:extLst>
          </p:cNvPr>
          <p:cNvSpPr txBox="1"/>
          <p:nvPr/>
        </p:nvSpPr>
        <p:spPr>
          <a:xfrm>
            <a:off x="1613267" y="1133827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マンジャロランナー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0BED679-6702-240E-D194-F6F944B81FCD}"/>
              </a:ext>
            </a:extLst>
          </p:cNvPr>
          <p:cNvSpPr txBox="1"/>
          <p:nvPr/>
        </p:nvSpPr>
        <p:spPr>
          <a:xfrm>
            <a:off x="177250" y="2312242"/>
            <a:ext cx="2774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二型糖尿病のぽっちゃりお兄さん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9130899-14F7-F659-A376-BA1C89E1D3C9}"/>
              </a:ext>
            </a:extLst>
          </p:cNvPr>
          <p:cNvSpPr txBox="1"/>
          <p:nvPr/>
        </p:nvSpPr>
        <p:spPr>
          <a:xfrm>
            <a:off x="3229256" y="232749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左右に動き、走る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41FA33D-DFF0-3459-851C-B627229D947E}"/>
              </a:ext>
            </a:extLst>
          </p:cNvPr>
          <p:cNvSpPr txBox="1"/>
          <p:nvPr/>
        </p:nvSpPr>
        <p:spPr>
          <a:xfrm>
            <a:off x="3274267" y="3494348"/>
            <a:ext cx="2595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時間以内に北海道にたどり着く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CDCE69-15A6-B76C-C365-15DC2A644505}"/>
              </a:ext>
            </a:extLst>
          </p:cNvPr>
          <p:cNvSpPr txBox="1"/>
          <p:nvPr/>
        </p:nvSpPr>
        <p:spPr>
          <a:xfrm>
            <a:off x="6267464" y="231224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血糖値を保つ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5BAE0B4-70DD-661D-27C5-0783BAF78A60}"/>
              </a:ext>
            </a:extLst>
          </p:cNvPr>
          <p:cNvSpPr txBox="1"/>
          <p:nvPr/>
        </p:nvSpPr>
        <p:spPr>
          <a:xfrm>
            <a:off x="64765" y="3519478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日本全国沖縄、西日本、東</a:t>
            </a:r>
            <a:endParaRPr kumimoji="1" lang="en-US" altLang="ja-JP" dirty="0"/>
          </a:p>
          <a:p>
            <a:r>
              <a:rPr kumimoji="1" lang="ja-JP" altLang="en-US" dirty="0"/>
              <a:t>日本、北海道の</a:t>
            </a:r>
            <a:r>
              <a:rPr kumimoji="1" lang="en-US" altLang="ja-JP" dirty="0"/>
              <a:t>4</a:t>
            </a:r>
            <a:r>
              <a:rPr kumimoji="1" lang="ja-JP" altLang="en-US" dirty="0"/>
              <a:t>ステージ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7A1C2F1-522F-2C6E-6B6A-DE644695075D}"/>
              </a:ext>
            </a:extLst>
          </p:cNvPr>
          <p:cNvSpPr txBox="1"/>
          <p:nvPr/>
        </p:nvSpPr>
        <p:spPr>
          <a:xfrm>
            <a:off x="6066253" y="3519478"/>
            <a:ext cx="3230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3D</a:t>
            </a:r>
            <a:r>
              <a:rPr kumimoji="1" lang="ja-JP" altLang="en-US" dirty="0"/>
              <a:t>アクションゲーム</a:t>
            </a:r>
            <a:endParaRPr kumimoji="1" lang="en-US" altLang="ja-JP" dirty="0"/>
          </a:p>
          <a:p>
            <a:r>
              <a:rPr kumimoji="1" lang="ja-JP" altLang="en-US" dirty="0"/>
              <a:t>主人公のの斜め後ろ俯瞰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6C424A8-BE68-865C-69F2-B736C03996FA}"/>
              </a:ext>
            </a:extLst>
          </p:cNvPr>
          <p:cNvSpPr txBox="1"/>
          <p:nvPr/>
        </p:nvSpPr>
        <p:spPr>
          <a:xfrm>
            <a:off x="6416999" y="409768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チーム</a:t>
            </a:r>
            <a:r>
              <a:rPr kumimoji="1" lang="en-US" altLang="ja-JP" dirty="0"/>
              <a:t>B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14838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B52F8AD8-05CB-2AAA-E4BB-FA59DCFFDFCF}"/>
              </a:ext>
            </a:extLst>
          </p:cNvPr>
          <p:cNvSpPr/>
          <p:nvPr/>
        </p:nvSpPr>
        <p:spPr>
          <a:xfrm>
            <a:off x="840850" y="5709148"/>
            <a:ext cx="7462299" cy="874532"/>
          </a:xfrm>
          <a:prstGeom prst="round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マンジャロを使用した時の</a:t>
            </a:r>
            <a:r>
              <a:rPr kumimoji="1" lang="ja-JP" altLang="en-US" sz="20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効果と制限を</a:t>
            </a:r>
            <a:r>
              <a:rPr kumimoji="1" lang="ja-JP" altLang="en-US" sz="2000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学び</a:t>
            </a:r>
            <a:endParaRPr kumimoji="1" lang="en-US" altLang="ja-JP" sz="2000" dirty="0">
              <a:solidFill>
                <a:schemeClr val="tx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pPr algn="ctr"/>
            <a:r>
              <a:rPr kumimoji="1" lang="ja-JP" altLang="en-US" sz="2000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使用すべきかどうかを学べる</a:t>
            </a:r>
          </a:p>
        </p:txBody>
      </p:sp>
      <p:sp>
        <p:nvSpPr>
          <p:cNvPr id="17" name="矢印: 下 16">
            <a:extLst>
              <a:ext uri="{FF2B5EF4-FFF2-40B4-BE49-F238E27FC236}">
                <a16:creationId xmlns:a16="http://schemas.microsoft.com/office/drawing/2014/main" id="{8FA4B062-0DAD-FBBD-908B-A23D66073D6F}"/>
              </a:ext>
            </a:extLst>
          </p:cNvPr>
          <p:cNvSpPr/>
          <p:nvPr/>
        </p:nvSpPr>
        <p:spPr>
          <a:xfrm>
            <a:off x="7459182" y="1548446"/>
            <a:ext cx="964620" cy="434839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額縁 5"/>
          <p:cNvSpPr/>
          <p:nvPr/>
        </p:nvSpPr>
        <p:spPr bwMode="auto">
          <a:xfrm>
            <a:off x="65874" y="420045"/>
            <a:ext cx="8657837" cy="556937"/>
          </a:xfrm>
          <a:prstGeom prst="bevel">
            <a:avLst/>
          </a:prstGeom>
          <a:solidFill>
            <a:srgbClr val="0000FF"/>
          </a:solidFill>
          <a:ln>
            <a:solidFill>
              <a:schemeClr val="accent3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294" tIns="32147" rIns="64294" bIns="32147" numCol="1" rtlCol="0" anchor="t" anchorCtr="0" compatLnSpc="1">
            <a:prstTxWarp prst="textNoShape">
              <a:avLst/>
            </a:prstTxWarp>
          </a:bodyPr>
          <a:lstStyle/>
          <a:p>
            <a:pPr defTabSz="642915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2531" dirty="0">
                <a:solidFill>
                  <a:schemeClr val="bg1"/>
                </a:solidFill>
                <a:latin typeface="HGP創英角ｺﾞｼｯｸUB" panose="020B0A00000000000000" pitchFamily="50" charset="-128"/>
                <a:ea typeface="HGP創英角ｺﾞｼｯｸUB" panose="020B0A00000000000000" pitchFamily="50" charset="-128"/>
                <a:cs typeface="メイリオ" pitchFamily="50" charset="-128"/>
                <a:sym typeface="ヒラギノ角ゴ Pro W3" pitchFamily="-84" charset="-128"/>
              </a:rPr>
              <a:t>シート❷　</a:t>
            </a:r>
            <a:r>
              <a:rPr lang="en-US" altLang="ja-JP" sz="2531" dirty="0">
                <a:solidFill>
                  <a:schemeClr val="bg1"/>
                </a:solidFill>
                <a:latin typeface="HGP創英角ｺﾞｼｯｸUB" panose="020B0A00000000000000" pitchFamily="50" charset="-128"/>
                <a:ea typeface="HGP創英角ｺﾞｼｯｸUB" panose="020B0A00000000000000" pitchFamily="50" charset="-128"/>
                <a:cs typeface="メイリオ" pitchFamily="50" charset="-128"/>
                <a:sym typeface="ヒラギノ角ゴ Pro W3" pitchFamily="-84" charset="-128"/>
              </a:rPr>
              <a:t>GOAL</a:t>
            </a:r>
            <a:r>
              <a:rPr lang="ja-JP" altLang="en-US" sz="2531" dirty="0">
                <a:solidFill>
                  <a:schemeClr val="bg1"/>
                </a:solidFill>
                <a:latin typeface="HGP創英角ｺﾞｼｯｸUB" panose="020B0A00000000000000" pitchFamily="50" charset="-128"/>
                <a:ea typeface="HGP創英角ｺﾞｼｯｸUB" panose="020B0A00000000000000" pitchFamily="50" charset="-128"/>
                <a:cs typeface="メイリオ" pitchFamily="50" charset="-128"/>
                <a:sym typeface="ヒラギノ角ゴ Pro W3" pitchFamily="-84" charset="-128"/>
              </a:rPr>
              <a:t>までの道筋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0303C1F-567D-4446-A625-F0737271D35A}" type="slidenum">
              <a:rPr lang="ja-JP" altLang="en-US" smtClean="0"/>
              <a:pPr>
                <a:defRPr/>
              </a:pPr>
              <a:t>3</a:t>
            </a:fld>
            <a:endParaRPr lang="en-US" altLang="ja-JP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284FE086-ABF1-21CF-AD80-6725012D75E5}"/>
              </a:ext>
            </a:extLst>
          </p:cNvPr>
          <p:cNvSpPr/>
          <p:nvPr/>
        </p:nvSpPr>
        <p:spPr>
          <a:xfrm>
            <a:off x="65874" y="5472840"/>
            <a:ext cx="1874519" cy="47261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GOAL</a:t>
            </a:r>
            <a:endParaRPr kumimoji="1" lang="ja-JP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250C001-E5B0-527B-7C9D-108D0D208272}"/>
              </a:ext>
            </a:extLst>
          </p:cNvPr>
          <p:cNvSpPr/>
          <p:nvPr/>
        </p:nvSpPr>
        <p:spPr>
          <a:xfrm>
            <a:off x="412806" y="1177022"/>
            <a:ext cx="1948732" cy="7428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誰が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86974F4-2D6C-E5EB-234F-15727AC3D010}"/>
              </a:ext>
            </a:extLst>
          </p:cNvPr>
          <p:cNvSpPr/>
          <p:nvPr/>
        </p:nvSpPr>
        <p:spPr>
          <a:xfrm>
            <a:off x="2482191" y="1177023"/>
            <a:ext cx="6241519" cy="7428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ぽっちゃりお兄さん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D4609593-F4B1-5C8D-AD3B-6303D81AC30E}"/>
              </a:ext>
            </a:extLst>
          </p:cNvPr>
          <p:cNvSpPr/>
          <p:nvPr/>
        </p:nvSpPr>
        <p:spPr>
          <a:xfrm>
            <a:off x="414132" y="2100698"/>
            <a:ext cx="1948732" cy="7428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どこで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1CD8F99F-2A97-DD42-0129-F59E85FC897A}"/>
              </a:ext>
            </a:extLst>
          </p:cNvPr>
          <p:cNvSpPr/>
          <p:nvPr/>
        </p:nvSpPr>
        <p:spPr>
          <a:xfrm>
            <a:off x="2483517" y="2100699"/>
            <a:ext cx="6241519" cy="7428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ja-JP" sz="2800" b="1" dirty="0">
                <a:solidFill>
                  <a:schemeClr val="tx1"/>
                </a:solidFill>
              </a:rPr>
              <a:t>日本縦断の路上ステージ</a:t>
            </a:r>
            <a:endParaRPr kumimoji="1" lang="ja-JP" altLang="en-US" sz="2800" b="1" dirty="0">
              <a:solidFill>
                <a:schemeClr val="tx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215D64DB-F4C1-A70B-D2BB-7715C665CBF8}"/>
              </a:ext>
            </a:extLst>
          </p:cNvPr>
          <p:cNvSpPr/>
          <p:nvPr/>
        </p:nvSpPr>
        <p:spPr>
          <a:xfrm>
            <a:off x="415459" y="3048229"/>
            <a:ext cx="1948732" cy="7428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どんな行動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941D0445-E4DA-084D-070C-EDCD0AF226A2}"/>
              </a:ext>
            </a:extLst>
          </p:cNvPr>
          <p:cNvSpPr/>
          <p:nvPr/>
        </p:nvSpPr>
        <p:spPr>
          <a:xfrm>
            <a:off x="2484844" y="3048230"/>
            <a:ext cx="6241519" cy="7428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速く走るために血糖値を保つ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EA45E668-58E8-32B3-6C40-F5EDEDB3123F}"/>
              </a:ext>
            </a:extLst>
          </p:cNvPr>
          <p:cNvSpPr/>
          <p:nvPr/>
        </p:nvSpPr>
        <p:spPr>
          <a:xfrm>
            <a:off x="1563818" y="3971905"/>
            <a:ext cx="6241519" cy="140221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ja-JP" altLang="ja-JP" sz="2800" b="1" dirty="0">
                <a:solidFill>
                  <a:schemeClr val="tx1"/>
                </a:solidFill>
              </a:rPr>
              <a:t>マンジャロや食事が血糖値に与える影響を常に気にかける緊張感</a:t>
            </a:r>
            <a:endParaRPr kumimoji="1" lang="ja-JP" altLang="en-US" sz="2800" b="1" dirty="0">
              <a:solidFill>
                <a:schemeClr val="tx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4" name="矢印: 右 3">
            <a:extLst>
              <a:ext uri="{FF2B5EF4-FFF2-40B4-BE49-F238E27FC236}">
                <a16:creationId xmlns:a16="http://schemas.microsoft.com/office/drawing/2014/main" id="{8C7A4D18-51A1-018E-C4D3-9D1CEF152FA0}"/>
              </a:ext>
            </a:extLst>
          </p:cNvPr>
          <p:cNvSpPr/>
          <p:nvPr/>
        </p:nvSpPr>
        <p:spPr>
          <a:xfrm>
            <a:off x="477078" y="4222980"/>
            <a:ext cx="1160891" cy="8587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一番</a:t>
            </a:r>
            <a:endParaRPr kumimoji="1" lang="en-US" altLang="ja-JP" sz="16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pPr algn="ctr"/>
            <a:r>
              <a:rPr kumimoji="1" lang="ja-JP" altLang="en-US" sz="16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大事</a:t>
            </a:r>
          </a:p>
        </p:txBody>
      </p:sp>
    </p:spTree>
    <p:extLst>
      <p:ext uri="{BB962C8B-B14F-4D97-AF65-F5344CB8AC3E}">
        <p14:creationId xmlns:p14="http://schemas.microsoft.com/office/powerpoint/2010/main" val="2608576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325AA-B7E9-192E-B687-064889854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図 21">
            <a:extLst>
              <a:ext uri="{FF2B5EF4-FFF2-40B4-BE49-F238E27FC236}">
                <a16:creationId xmlns:a16="http://schemas.microsoft.com/office/drawing/2014/main" id="{8B49C539-1C6C-9160-3687-9C1262B85C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6" name="額縁 5">
            <a:extLst>
              <a:ext uri="{FF2B5EF4-FFF2-40B4-BE49-F238E27FC236}">
                <a16:creationId xmlns:a16="http://schemas.microsoft.com/office/drawing/2014/main" id="{B89D7586-55D7-2AA6-FFB8-8260B2202620}"/>
              </a:ext>
            </a:extLst>
          </p:cNvPr>
          <p:cNvSpPr/>
          <p:nvPr/>
        </p:nvSpPr>
        <p:spPr bwMode="auto">
          <a:xfrm>
            <a:off x="82790" y="72151"/>
            <a:ext cx="8657837" cy="556937"/>
          </a:xfrm>
          <a:prstGeom prst="bevel">
            <a:avLst/>
          </a:prstGeom>
          <a:solidFill>
            <a:srgbClr val="0000FF"/>
          </a:solidFill>
          <a:ln>
            <a:solidFill>
              <a:schemeClr val="accent3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294" tIns="32147" rIns="64294" bIns="32147" numCol="1" rtlCol="0" anchor="t" anchorCtr="0" compatLnSpc="1">
            <a:prstTxWarp prst="textNoShape">
              <a:avLst/>
            </a:prstTxWarp>
          </a:bodyPr>
          <a:lstStyle/>
          <a:p>
            <a:pPr defTabSz="642915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2531" dirty="0">
                <a:solidFill>
                  <a:schemeClr val="bg1"/>
                </a:solidFill>
                <a:latin typeface="HGP創英角ｺﾞｼｯｸUB" panose="020B0A00000000000000" pitchFamily="50" charset="-128"/>
                <a:ea typeface="HGP創英角ｺﾞｼｯｸUB" panose="020B0A00000000000000" pitchFamily="50" charset="-128"/>
                <a:cs typeface="メイリオ" pitchFamily="50" charset="-128"/>
                <a:sym typeface="ヒラギノ角ゴ Pro W3" pitchFamily="-84" charset="-128"/>
              </a:rPr>
              <a:t>シート❸　ゲームルール　と　システム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F8A311D-60F6-77C5-9F74-CDF49380C7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0303C1F-567D-4446-A625-F0737271D35A}" type="slidenum">
              <a:rPr lang="ja-JP" altLang="en-US" smtClean="0"/>
              <a:pPr>
                <a:defRPr/>
              </a:pPr>
              <a:t>4</a:t>
            </a:fld>
            <a:endParaRPr lang="en-US" altLang="ja-JP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B16F82D-BC59-FAE3-1DA2-9BB953CE1443}"/>
              </a:ext>
            </a:extLst>
          </p:cNvPr>
          <p:cNvSpPr/>
          <p:nvPr/>
        </p:nvSpPr>
        <p:spPr>
          <a:xfrm>
            <a:off x="5509635" y="4750533"/>
            <a:ext cx="1453609" cy="5723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血糖値</a:t>
            </a: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4AB0C126-6EAE-EE83-8CCA-0618CFD66D20}"/>
              </a:ext>
            </a:extLst>
          </p:cNvPr>
          <p:cNvCxnSpPr>
            <a:cxnSpLocks/>
          </p:cNvCxnSpPr>
          <p:nvPr/>
        </p:nvCxnSpPr>
        <p:spPr>
          <a:xfrm flipH="1" flipV="1">
            <a:off x="5607698" y="4299287"/>
            <a:ext cx="423141" cy="415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D05E637-17FA-15CA-C753-6A453F57786B}"/>
              </a:ext>
            </a:extLst>
          </p:cNvPr>
          <p:cNvSpPr/>
          <p:nvPr/>
        </p:nvSpPr>
        <p:spPr>
          <a:xfrm>
            <a:off x="6963245" y="3876714"/>
            <a:ext cx="2085062" cy="8381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マンジャロ使用可能か</a:t>
            </a: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E084907A-674C-99E3-3D30-69C83F5B771F}"/>
              </a:ext>
            </a:extLst>
          </p:cNvPr>
          <p:cNvSpPr/>
          <p:nvPr/>
        </p:nvSpPr>
        <p:spPr>
          <a:xfrm>
            <a:off x="4783210" y="4977688"/>
            <a:ext cx="568986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矢印: 左 11">
            <a:extLst>
              <a:ext uri="{FF2B5EF4-FFF2-40B4-BE49-F238E27FC236}">
                <a16:creationId xmlns:a16="http://schemas.microsoft.com/office/drawing/2014/main" id="{2B6C3445-5C9B-7042-6D81-70A1D8946CB3}"/>
              </a:ext>
            </a:extLst>
          </p:cNvPr>
          <p:cNvSpPr/>
          <p:nvPr/>
        </p:nvSpPr>
        <p:spPr>
          <a:xfrm>
            <a:off x="3791804" y="4993409"/>
            <a:ext cx="619905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35871D3-FFF1-37B3-755D-FDD4691BB28A}"/>
              </a:ext>
            </a:extLst>
          </p:cNvPr>
          <p:cNvSpPr/>
          <p:nvPr/>
        </p:nvSpPr>
        <p:spPr>
          <a:xfrm>
            <a:off x="3791804" y="4154968"/>
            <a:ext cx="1401335" cy="8381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左右に動かす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B7B1FBB-B3E3-0AE5-134E-E7E41058C7CD}"/>
              </a:ext>
            </a:extLst>
          </p:cNvPr>
          <p:cNvSpPr/>
          <p:nvPr/>
        </p:nvSpPr>
        <p:spPr>
          <a:xfrm>
            <a:off x="5764021" y="2801346"/>
            <a:ext cx="2391151" cy="4673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常に前に進む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28ADBBA-ED55-A77B-B91E-6A094342B343}"/>
              </a:ext>
            </a:extLst>
          </p:cNvPr>
          <p:cNvSpPr/>
          <p:nvPr/>
        </p:nvSpPr>
        <p:spPr>
          <a:xfrm>
            <a:off x="5411753" y="1145769"/>
            <a:ext cx="1754591" cy="369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残り時間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0460D1D-3BEB-4237-B8DF-D65ED2FB1DD4}"/>
              </a:ext>
            </a:extLst>
          </p:cNvPr>
          <p:cNvSpPr/>
          <p:nvPr/>
        </p:nvSpPr>
        <p:spPr>
          <a:xfrm>
            <a:off x="82790" y="1000664"/>
            <a:ext cx="2298101" cy="733245"/>
          </a:xfrm>
          <a:prstGeom prst="rect">
            <a:avLst/>
          </a:prstGeom>
          <a:solidFill>
            <a:srgbClr val="80CAED"/>
          </a:solidFill>
          <a:ln>
            <a:solidFill>
              <a:srgbClr val="80C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D8792DB-690F-0F1D-237C-C38DB5D73571}"/>
              </a:ext>
            </a:extLst>
          </p:cNvPr>
          <p:cNvSpPr txBox="1"/>
          <p:nvPr/>
        </p:nvSpPr>
        <p:spPr>
          <a:xfrm>
            <a:off x="946881" y="1182619"/>
            <a:ext cx="1649670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bg1"/>
                </a:solidFill>
              </a:rPr>
              <a:t>残り距離</a:t>
            </a: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D47F3F0A-CB8E-788F-3F57-B55B375C6CAC}"/>
              </a:ext>
            </a:extLst>
          </p:cNvPr>
          <p:cNvCxnSpPr>
            <a:cxnSpLocks/>
          </p:cNvCxnSpPr>
          <p:nvPr/>
        </p:nvCxnSpPr>
        <p:spPr>
          <a:xfrm flipV="1">
            <a:off x="2171366" y="929639"/>
            <a:ext cx="425185" cy="2529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013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69ABBB7-5FC4-24B8-8D08-187D8875B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E306-C438-4B8F-8E66-DBADAD804C4A}" type="slidenum">
              <a:rPr kumimoji="1" lang="ja-JP" altLang="en-US" smtClean="0"/>
              <a:t>5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5232886-58F6-2F61-4431-BBCF28203E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904"/>
            <a:ext cx="9095874" cy="5518192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624CDDD-CC67-1ADE-EDDA-45A8CD90CE21}"/>
              </a:ext>
            </a:extLst>
          </p:cNvPr>
          <p:cNvSpPr/>
          <p:nvPr/>
        </p:nvSpPr>
        <p:spPr>
          <a:xfrm>
            <a:off x="1777482" y="2453951"/>
            <a:ext cx="1642188" cy="6064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エナドリ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D5B182A-8289-359B-7C57-BAFC301B7188}"/>
              </a:ext>
            </a:extLst>
          </p:cNvPr>
          <p:cNvSpPr/>
          <p:nvPr/>
        </p:nvSpPr>
        <p:spPr>
          <a:xfrm>
            <a:off x="5932967" y="2341983"/>
            <a:ext cx="2137141" cy="5505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バリケード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FA3BC3F-777B-8041-90ED-62579A61CDFC}"/>
              </a:ext>
            </a:extLst>
          </p:cNvPr>
          <p:cNvSpPr/>
          <p:nvPr/>
        </p:nvSpPr>
        <p:spPr>
          <a:xfrm>
            <a:off x="5206482" y="1045029"/>
            <a:ext cx="1707502" cy="513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食べ物</a:t>
            </a: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7FFD35E0-B67A-6C48-B1BA-884378D7A594}"/>
              </a:ext>
            </a:extLst>
          </p:cNvPr>
          <p:cNvCxnSpPr/>
          <p:nvPr/>
        </p:nvCxnSpPr>
        <p:spPr>
          <a:xfrm flipH="1">
            <a:off x="5159829" y="1567543"/>
            <a:ext cx="886408" cy="410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F5E4190B-0009-1C53-4699-D861603EFE05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3419670" y="2701212"/>
            <a:ext cx="723122" cy="55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121D6A09-AC5F-56FC-C943-E9DAAD011010}"/>
              </a:ext>
            </a:extLst>
          </p:cNvPr>
          <p:cNvCxnSpPr>
            <a:cxnSpLocks/>
            <a:stCxn id="6" idx="1"/>
          </p:cNvCxnSpPr>
          <p:nvPr/>
        </p:nvCxnSpPr>
        <p:spPr>
          <a:xfrm flipV="1">
            <a:off x="5932967" y="2453951"/>
            <a:ext cx="127266" cy="163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9813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4DF6A-1FF3-16CD-9480-2A9FE114A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額縁 5">
            <a:extLst>
              <a:ext uri="{FF2B5EF4-FFF2-40B4-BE49-F238E27FC236}">
                <a16:creationId xmlns:a16="http://schemas.microsoft.com/office/drawing/2014/main" id="{79738999-5979-690A-A4C7-CE53211A307E}"/>
              </a:ext>
            </a:extLst>
          </p:cNvPr>
          <p:cNvSpPr/>
          <p:nvPr/>
        </p:nvSpPr>
        <p:spPr bwMode="auto">
          <a:xfrm>
            <a:off x="65874" y="420045"/>
            <a:ext cx="8657837" cy="556937"/>
          </a:xfrm>
          <a:prstGeom prst="bevel">
            <a:avLst/>
          </a:prstGeom>
          <a:solidFill>
            <a:srgbClr val="0000FF"/>
          </a:solidFill>
          <a:ln>
            <a:solidFill>
              <a:schemeClr val="accent3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294" tIns="32147" rIns="64294" bIns="32147" numCol="1" rtlCol="0" anchor="t" anchorCtr="0" compatLnSpc="1">
            <a:prstTxWarp prst="textNoShape">
              <a:avLst/>
            </a:prstTxWarp>
          </a:bodyPr>
          <a:lstStyle/>
          <a:p>
            <a:pPr defTabSz="642915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2531" dirty="0">
                <a:solidFill>
                  <a:schemeClr val="bg1"/>
                </a:solidFill>
                <a:latin typeface="HGP創英角ｺﾞｼｯｸUB" panose="020B0A00000000000000" pitchFamily="50" charset="-128"/>
                <a:ea typeface="HGP創英角ｺﾞｼｯｸUB" panose="020B0A00000000000000" pitchFamily="50" charset="-128"/>
                <a:cs typeface="メイリオ" pitchFamily="50" charset="-128"/>
                <a:sym typeface="ヒラギノ角ゴ Pro W3" pitchFamily="-84" charset="-128"/>
              </a:rPr>
              <a:t>シート❹　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7DC458B-6A8B-4E8B-A025-B6D8D308A1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0303C1F-567D-4446-A625-F0737271D35A}" type="slidenum">
              <a:rPr lang="ja-JP" altLang="en-US" smtClean="0"/>
              <a:pPr>
                <a:defRPr/>
              </a:pPr>
              <a:t>6</a:t>
            </a:fld>
            <a:endParaRPr lang="en-US" altLang="ja-JP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907ACF7-1F9A-B535-174E-D38B6FCA9100}"/>
              </a:ext>
            </a:extLst>
          </p:cNvPr>
          <p:cNvSpPr>
            <a:spLocks/>
          </p:cNvSpPr>
          <p:nvPr/>
        </p:nvSpPr>
        <p:spPr>
          <a:xfrm>
            <a:off x="335470" y="3492309"/>
            <a:ext cx="4003696" cy="3186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赤ゲージ⤴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13547D8-9DD4-EA4C-5C60-1DB2940E4737}"/>
              </a:ext>
            </a:extLst>
          </p:cNvPr>
          <p:cNvSpPr/>
          <p:nvPr/>
        </p:nvSpPr>
        <p:spPr>
          <a:xfrm>
            <a:off x="2570149" y="6324978"/>
            <a:ext cx="4003696" cy="3186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/>
              <a:t>Game Over</a:t>
            </a:r>
            <a:endParaRPr kumimoji="1" lang="ja-JP" altLang="en-US" sz="28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972A3D7-4C5C-6547-42C4-B1E3E62DF7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37" y="976982"/>
            <a:ext cx="4469363" cy="2515327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5E51830E-EDFA-C127-294B-CCA6AADCCD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316" y="3810961"/>
            <a:ext cx="4469363" cy="2514017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55ACB549-2569-E288-59C2-8226AB05302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371" y="976982"/>
            <a:ext cx="4472992" cy="2514017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C9E52C6-8B6A-7294-6E23-247C6884DD8C}"/>
              </a:ext>
            </a:extLst>
          </p:cNvPr>
          <p:cNvSpPr>
            <a:spLocks/>
          </p:cNvSpPr>
          <p:nvPr/>
        </p:nvSpPr>
        <p:spPr>
          <a:xfrm>
            <a:off x="4801204" y="3490999"/>
            <a:ext cx="4003696" cy="3186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青ゲージ⤵</a:t>
            </a:r>
          </a:p>
        </p:txBody>
      </p:sp>
    </p:spTree>
    <p:extLst>
      <p:ext uri="{BB962C8B-B14F-4D97-AF65-F5344CB8AC3E}">
        <p14:creationId xmlns:p14="http://schemas.microsoft.com/office/powerpoint/2010/main" val="2787609970"/>
      </p:ext>
    </p:extLst>
  </p:cSld>
  <p:clrMapOvr>
    <a:masterClrMapping/>
  </p:clrMapOvr>
</p:sld>
</file>

<file path=ppt/theme/theme1.xml><?xml version="1.0" encoding="utf-8"?>
<a:theme xmlns:a="http://schemas.openxmlformats.org/drawingml/2006/main" name="yuru_orginal">
  <a:themeElements>
    <a:clrScheme name="黄緑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YuruCamp2023">
      <a:majorFont>
        <a:latin typeface="Arial"/>
        <a:ea typeface="BIZ UDゴシック"/>
        <a:cs typeface=""/>
      </a:majorFont>
      <a:minorFont>
        <a:latin typeface="Arial"/>
        <a:ea typeface="BIZ UDゴシック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uru_orginal" id="{C1C0CC06-6A82-4B95-9D78-214D00E51981}" vid="{49F92C89-AD42-44EA-AA5B-E1BE6627DD9B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10103</TotalTime>
  <Words>254</Words>
  <Application>Microsoft Office PowerPoint</Application>
  <PresentationFormat>画面に合わせる (4:3)</PresentationFormat>
  <Paragraphs>62</Paragraphs>
  <Slides>6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2" baseType="lpstr">
      <vt:lpstr>HGP創英角ｺﾞｼｯｸUB</vt:lpstr>
      <vt:lpstr>HGS創英角ｺﾞｼｯｸUB</vt:lpstr>
      <vt:lpstr>游ゴシック</vt:lpstr>
      <vt:lpstr>Arial</vt:lpstr>
      <vt:lpstr>Calibri</vt:lpstr>
      <vt:lpstr>yuru_orginal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自己紹介と研究紹介</dc:title>
  <dc:creator>大井翔</dc:creator>
  <cp:lastModifiedBy>MIYATAKE Gakuto</cp:lastModifiedBy>
  <cp:revision>192</cp:revision>
  <dcterms:created xsi:type="dcterms:W3CDTF">2017-09-19T01:47:21Z</dcterms:created>
  <dcterms:modified xsi:type="dcterms:W3CDTF">2026-08-01T04:26:42Z</dcterms:modified>
</cp:coreProperties>
</file>