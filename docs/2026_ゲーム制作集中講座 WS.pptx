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16"/>
  </p:notesMasterIdLst>
  <p:sldIdLst>
    <p:sldId id="1069" r:id="rId2"/>
    <p:sldId id="1008" r:id="rId3"/>
    <p:sldId id="1070" r:id="rId4"/>
    <p:sldId id="1018" r:id="rId5"/>
    <p:sldId id="985" r:id="rId6"/>
    <p:sldId id="982" r:id="rId7"/>
    <p:sldId id="1071" r:id="rId8"/>
    <p:sldId id="1012" r:id="rId9"/>
    <p:sldId id="963" r:id="rId10"/>
    <p:sldId id="937" r:id="rId11"/>
    <p:sldId id="1072" r:id="rId12"/>
    <p:sldId id="1002" r:id="rId13"/>
    <p:sldId id="1016" r:id="rId14"/>
    <p:sldId id="101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a:srgbClr val="FFCCFF"/>
    <a:srgbClr val="00FF00"/>
    <a:srgbClr val="0066FF"/>
    <a:srgbClr val="CCFFFF"/>
    <a:srgbClr val="E6E6E6"/>
    <a:srgbClr val="D898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14" autoAdjust="0"/>
    <p:restoredTop sz="94660"/>
  </p:normalViewPr>
  <p:slideViewPr>
    <p:cSldViewPr snapToGrid="0">
      <p:cViewPr varScale="1">
        <p:scale>
          <a:sx n="87" d="100"/>
          <a:sy n="87" d="100"/>
        </p:scale>
        <p:origin x="1066"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A03B28-29D3-4E99-A0A5-253D54D03637}" type="datetimeFigureOut">
              <a:rPr kumimoji="1" lang="ja-JP" altLang="en-US" smtClean="0"/>
              <a:t>2026/7/16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2E0879-B195-4ED9-906E-67BE0559900B}" type="slidenum">
              <a:rPr kumimoji="1" lang="ja-JP" altLang="en-US" smtClean="0"/>
              <a:t>‹#›</a:t>
            </a:fld>
            <a:endParaRPr kumimoji="1" lang="ja-JP" altLang="en-US"/>
          </a:p>
        </p:txBody>
      </p:sp>
    </p:spTree>
    <p:extLst>
      <p:ext uri="{BB962C8B-B14F-4D97-AF65-F5344CB8AC3E}">
        <p14:creationId xmlns:p14="http://schemas.microsoft.com/office/powerpoint/2010/main" val="4107074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F483-2128-A467-00F7-EC8118C1B2A1}"/>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C0727C14-7703-4D67-A9C3-E5C12CF1E246}"/>
              </a:ext>
            </a:extLst>
          </p:cNvPr>
          <p:cNvSpPr>
            <a:spLocks noGrp="1" noRot="1" noChangeAspect="1"/>
          </p:cNvSpPr>
          <p:nvPr>
            <p:ph type="sldImg"/>
          </p:nvPr>
        </p:nvSpPr>
        <p:spPr/>
      </p:sp>
      <p:sp>
        <p:nvSpPr>
          <p:cNvPr id="3" name="ノート プレースホルダ 2">
            <a:extLst>
              <a:ext uri="{FF2B5EF4-FFF2-40B4-BE49-F238E27FC236}">
                <a16:creationId xmlns:a16="http://schemas.microsoft.com/office/drawing/2014/main" id="{5916724B-6BDC-34EF-7D8F-418BD8B3ECE4}"/>
              </a:ext>
            </a:extLst>
          </p:cNvPr>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a:extLst>
              <a:ext uri="{FF2B5EF4-FFF2-40B4-BE49-F238E27FC236}">
                <a16:creationId xmlns:a16="http://schemas.microsoft.com/office/drawing/2014/main" id="{DDF16AF1-27C8-E95F-7A9C-4EC87CB8A5A4}"/>
              </a:ext>
            </a:extLst>
          </p:cNvPr>
          <p:cNvSpPr>
            <a:spLocks noGrp="1"/>
          </p:cNvSpPr>
          <p:nvPr>
            <p:ph type="sldNum" sz="quarter" idx="10"/>
          </p:nvPr>
        </p:nvSpPr>
        <p:spPr/>
        <p:txBody>
          <a:bodyPr/>
          <a:lstStyle/>
          <a:p>
            <a:pPr>
              <a:defRPr/>
            </a:pPr>
            <a:fld id="{500FE843-D084-3446-957B-6CA67CB968F9}" type="slidenum">
              <a:rPr lang="ja-JP" altLang="en-US" smtClean="0"/>
              <a:pPr>
                <a:defRPr/>
              </a:pPr>
              <a:t>1</a:t>
            </a:fld>
            <a:endParaRPr lang="en-US" altLang="ja-JP"/>
          </a:p>
        </p:txBody>
      </p:sp>
    </p:spTree>
    <p:extLst>
      <p:ext uri="{BB962C8B-B14F-4D97-AF65-F5344CB8AC3E}">
        <p14:creationId xmlns:p14="http://schemas.microsoft.com/office/powerpoint/2010/main" val="148488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2</a:t>
            </a:fld>
            <a:endParaRPr lang="en-US" altLang="ja-JP"/>
          </a:p>
        </p:txBody>
      </p:sp>
    </p:spTree>
    <p:extLst>
      <p:ext uri="{BB962C8B-B14F-4D97-AF65-F5344CB8AC3E}">
        <p14:creationId xmlns:p14="http://schemas.microsoft.com/office/powerpoint/2010/main" val="179665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DD68-C441-0B8A-F7D6-C059CCB60D8F}"/>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C6CA94AB-1DF0-FE9E-0475-1EF66E960D67}"/>
              </a:ext>
            </a:extLst>
          </p:cNvPr>
          <p:cNvSpPr>
            <a:spLocks noGrp="1" noRot="1" noChangeAspect="1"/>
          </p:cNvSpPr>
          <p:nvPr>
            <p:ph type="sldImg"/>
          </p:nvPr>
        </p:nvSpPr>
        <p:spPr/>
      </p:sp>
      <p:sp>
        <p:nvSpPr>
          <p:cNvPr id="3" name="ノート プレースホルダ 2">
            <a:extLst>
              <a:ext uri="{FF2B5EF4-FFF2-40B4-BE49-F238E27FC236}">
                <a16:creationId xmlns:a16="http://schemas.microsoft.com/office/drawing/2014/main" id="{7CFE8779-25F4-C3BC-FE1B-39E332094EA0}"/>
              </a:ext>
            </a:extLst>
          </p:cNvPr>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a:extLst>
              <a:ext uri="{FF2B5EF4-FFF2-40B4-BE49-F238E27FC236}">
                <a16:creationId xmlns:a16="http://schemas.microsoft.com/office/drawing/2014/main" id="{31548C97-2BB4-A86E-3476-4D14C903D675}"/>
              </a:ext>
            </a:extLst>
          </p:cNvPr>
          <p:cNvSpPr>
            <a:spLocks noGrp="1"/>
          </p:cNvSpPr>
          <p:nvPr>
            <p:ph type="sldNum" sz="quarter" idx="10"/>
          </p:nvPr>
        </p:nvSpPr>
        <p:spPr/>
        <p:txBody>
          <a:bodyPr/>
          <a:lstStyle/>
          <a:p>
            <a:pPr>
              <a:defRPr/>
            </a:pPr>
            <a:fld id="{500FE843-D084-3446-957B-6CA67CB968F9}" type="slidenum">
              <a:rPr lang="ja-JP" altLang="en-US" smtClean="0"/>
              <a:pPr>
                <a:defRPr/>
              </a:pPr>
              <a:t>3</a:t>
            </a:fld>
            <a:endParaRPr lang="en-US" altLang="ja-JP"/>
          </a:p>
        </p:txBody>
      </p:sp>
    </p:spTree>
    <p:extLst>
      <p:ext uri="{BB962C8B-B14F-4D97-AF65-F5344CB8AC3E}">
        <p14:creationId xmlns:p14="http://schemas.microsoft.com/office/powerpoint/2010/main" val="1961222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4</a:t>
            </a:fld>
            <a:endParaRPr lang="en-US" altLang="ja-JP"/>
          </a:p>
        </p:txBody>
      </p:sp>
    </p:spTree>
    <p:extLst>
      <p:ext uri="{BB962C8B-B14F-4D97-AF65-F5344CB8AC3E}">
        <p14:creationId xmlns:p14="http://schemas.microsoft.com/office/powerpoint/2010/main" val="2942859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8</a:t>
            </a:fld>
            <a:endParaRPr lang="en-US" altLang="ja-JP"/>
          </a:p>
        </p:txBody>
      </p:sp>
    </p:spTree>
    <p:extLst>
      <p:ext uri="{BB962C8B-B14F-4D97-AF65-F5344CB8AC3E}">
        <p14:creationId xmlns:p14="http://schemas.microsoft.com/office/powerpoint/2010/main" val="10239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Shape 9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ja-JP" altLang="en-US"/>
          </a:p>
        </p:txBody>
      </p:sp>
      <p:sp>
        <p:nvSpPr>
          <p:cNvPr id="57347" name="Shape 97"/>
          <p:cNvSpPr>
            <a:spLocks noGrp="1" noRot="1" noChangeAspect="1" noTextEdit="1"/>
          </p:cNvSpPr>
          <p:nvPr>
            <p:ph type="sldImg" idx="2"/>
          </p:nvPr>
        </p:nvSpPr>
        <p:spPr>
          <a:noFill/>
          <a:ln>
            <a:round/>
            <a:headEnd/>
            <a:tailEnd/>
          </a:ln>
        </p:spPr>
      </p:sp>
    </p:spTree>
    <p:extLst>
      <p:ext uri="{BB962C8B-B14F-4D97-AF65-F5344CB8AC3E}">
        <p14:creationId xmlns:p14="http://schemas.microsoft.com/office/powerpoint/2010/main" val="1498242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Shape 9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ja-JP" altLang="en-US"/>
          </a:p>
        </p:txBody>
      </p:sp>
      <p:sp>
        <p:nvSpPr>
          <p:cNvPr id="57347" name="Shape 97"/>
          <p:cNvSpPr>
            <a:spLocks noGrp="1" noRot="1" noChangeAspect="1" noTextEdit="1"/>
          </p:cNvSpPr>
          <p:nvPr>
            <p:ph type="sldImg" idx="2"/>
          </p:nvPr>
        </p:nvSpPr>
        <p:spPr>
          <a:noFill/>
          <a:ln>
            <a:round/>
            <a:headEnd/>
            <a:tailEnd/>
          </a:ln>
        </p:spPr>
      </p:sp>
    </p:spTree>
    <p:extLst>
      <p:ext uri="{BB962C8B-B14F-4D97-AF65-F5344CB8AC3E}">
        <p14:creationId xmlns:p14="http://schemas.microsoft.com/office/powerpoint/2010/main" val="214524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04F81A62-97E1-BA4B-0AD0-23E1F832FBDE}"/>
            </a:ext>
          </a:extLst>
        </p:cNvPr>
        <p:cNvGrpSpPr/>
        <p:nvPr/>
      </p:nvGrpSpPr>
      <p:grpSpPr>
        <a:xfrm>
          <a:off x="0" y="0"/>
          <a:ext cx="0" cy="0"/>
          <a:chOff x="0" y="0"/>
          <a:chExt cx="0" cy="0"/>
        </a:xfrm>
      </p:grpSpPr>
      <p:sp>
        <p:nvSpPr>
          <p:cNvPr id="57346" name="Shape 96">
            <a:extLst>
              <a:ext uri="{FF2B5EF4-FFF2-40B4-BE49-F238E27FC236}">
                <a16:creationId xmlns:a16="http://schemas.microsoft.com/office/drawing/2014/main" id="{2F55D847-A341-C829-C6D9-C17589D6937B}"/>
              </a:ext>
            </a:extLst>
          </p:cNvPr>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ja-JP" altLang="en-US"/>
          </a:p>
        </p:txBody>
      </p:sp>
      <p:sp>
        <p:nvSpPr>
          <p:cNvPr id="57347" name="Shape 97">
            <a:extLst>
              <a:ext uri="{FF2B5EF4-FFF2-40B4-BE49-F238E27FC236}">
                <a16:creationId xmlns:a16="http://schemas.microsoft.com/office/drawing/2014/main" id="{E372B847-D006-042E-C32E-97A5A9DE3C62}"/>
              </a:ext>
            </a:extLst>
          </p:cNvPr>
          <p:cNvSpPr>
            <a:spLocks noGrp="1" noRot="1" noChangeAspect="1" noTextEdit="1"/>
          </p:cNvSpPr>
          <p:nvPr>
            <p:ph type="sldImg" idx="2"/>
          </p:nvPr>
        </p:nvSpPr>
        <p:spPr>
          <a:noFill/>
          <a:ln>
            <a:round/>
            <a:headEnd/>
            <a:tailEnd/>
          </a:ln>
        </p:spPr>
      </p:sp>
    </p:spTree>
    <p:extLst>
      <p:ext uri="{BB962C8B-B14F-4D97-AF65-F5344CB8AC3E}">
        <p14:creationId xmlns:p14="http://schemas.microsoft.com/office/powerpoint/2010/main" val="4136007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12</a:t>
            </a:fld>
            <a:endParaRPr lang="en-US" altLang="ja-JP"/>
          </a:p>
        </p:txBody>
      </p:sp>
    </p:spTree>
    <p:extLst>
      <p:ext uri="{BB962C8B-B14F-4D97-AF65-F5344CB8AC3E}">
        <p14:creationId xmlns:p14="http://schemas.microsoft.com/office/powerpoint/2010/main" val="4283424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13</a:t>
            </a:fld>
            <a:endParaRPr lang="en-US" altLang="ja-JP"/>
          </a:p>
        </p:txBody>
      </p:sp>
    </p:spTree>
    <p:extLst>
      <p:ext uri="{BB962C8B-B14F-4D97-AF65-F5344CB8AC3E}">
        <p14:creationId xmlns:p14="http://schemas.microsoft.com/office/powerpoint/2010/main" val="2743081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en-US" altLang="ja-JP" sz="1200" kern="0" baseline="0" dirty="0">
              <a:solidFill>
                <a:schemeClr val="tx1"/>
              </a:solidFill>
              <a:latin typeface="+mn-ea"/>
              <a:ea typeface="ＭＳ Ｐゴシック" pitchFamily="-84" charset="-128"/>
              <a:cs typeface="ＭＳ Ｐゴシック" pitchFamily="-84" charset="-128"/>
            </a:endParaRPr>
          </a:p>
        </p:txBody>
      </p:sp>
      <p:sp>
        <p:nvSpPr>
          <p:cNvPr id="4" name="スライド番号プレースホルダ 3"/>
          <p:cNvSpPr>
            <a:spLocks noGrp="1"/>
          </p:cNvSpPr>
          <p:nvPr>
            <p:ph type="sldNum" sz="quarter" idx="10"/>
          </p:nvPr>
        </p:nvSpPr>
        <p:spPr/>
        <p:txBody>
          <a:bodyPr/>
          <a:lstStyle/>
          <a:p>
            <a:pPr>
              <a:defRPr/>
            </a:pPr>
            <a:fld id="{500FE843-D084-3446-957B-6CA67CB968F9}" type="slidenum">
              <a:rPr lang="ja-JP" altLang="en-US" smtClean="0"/>
              <a:pPr>
                <a:defRPr/>
              </a:pPr>
              <a:t>14</a:t>
            </a:fld>
            <a:endParaRPr lang="en-US" altLang="ja-JP"/>
          </a:p>
        </p:txBody>
      </p:sp>
    </p:spTree>
    <p:extLst>
      <p:ext uri="{BB962C8B-B14F-4D97-AF65-F5344CB8AC3E}">
        <p14:creationId xmlns:p14="http://schemas.microsoft.com/office/powerpoint/2010/main" val="14511890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sp>
        <p:nvSpPr>
          <p:cNvPr id="101" name="正方形/長方形 100"/>
          <p:cNvSpPr/>
          <p:nvPr/>
        </p:nvSpPr>
        <p:spPr>
          <a:xfrm>
            <a:off x="0" y="-104465"/>
            <a:ext cx="9144000" cy="6962465"/>
          </a:xfrm>
          <a:prstGeom prst="rect">
            <a:avLst/>
          </a:prstGeom>
          <a:solidFill>
            <a:srgbClr val="FFF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9" name="正方形/長方形 8"/>
          <p:cNvSpPr/>
          <p:nvPr/>
        </p:nvSpPr>
        <p:spPr>
          <a:xfrm>
            <a:off x="0" y="6548971"/>
            <a:ext cx="9144000" cy="30903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0" name="正方形/長方形 9"/>
          <p:cNvSpPr/>
          <p:nvPr/>
        </p:nvSpPr>
        <p:spPr>
          <a:xfrm>
            <a:off x="0" y="6239937"/>
            <a:ext cx="9144000" cy="3090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ctrTitle"/>
          </p:nvPr>
        </p:nvSpPr>
        <p:spPr>
          <a:xfrm>
            <a:off x="685800" y="1609451"/>
            <a:ext cx="7772400" cy="2387600"/>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099239"/>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103" name="正方形/長方形 102"/>
          <p:cNvSpPr/>
          <p:nvPr/>
        </p:nvSpPr>
        <p:spPr>
          <a:xfrm>
            <a:off x="0" y="204572"/>
            <a:ext cx="9144000" cy="3090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04" name="正方形/長方形 103"/>
          <p:cNvSpPr/>
          <p:nvPr/>
        </p:nvSpPr>
        <p:spPr>
          <a:xfrm>
            <a:off x="0" y="-104465"/>
            <a:ext cx="7614745" cy="309033"/>
          </a:xfrm>
          <a:prstGeom prst="rect">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a:p>
        </p:txBody>
      </p:sp>
      <p:pic>
        <p:nvPicPr>
          <p:cNvPr id="4" name="図 3" descr="テキスト が含まれている画像&#10;&#10;自動的に生成された説明">
            <a:extLst>
              <a:ext uri="{FF2B5EF4-FFF2-40B4-BE49-F238E27FC236}">
                <a16:creationId xmlns:a16="http://schemas.microsoft.com/office/drawing/2014/main" id="{3ADFE547-66D8-A537-91B5-0625BE5159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14745" y="-110366"/>
            <a:ext cx="1529255" cy="436931"/>
          </a:xfrm>
          <a:prstGeom prst="rect">
            <a:avLst/>
          </a:prstGeom>
        </p:spPr>
      </p:pic>
    </p:spTree>
    <p:extLst>
      <p:ext uri="{BB962C8B-B14F-4D97-AF65-F5344CB8AC3E}">
        <p14:creationId xmlns:p14="http://schemas.microsoft.com/office/powerpoint/2010/main" val="142218768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5" name="Footer Placeholder 4"/>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6" name="Slide Number Placeholder 5"/>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383462519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3"/>
            <a:ext cx="7886700" cy="2852737"/>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8"/>
            <a:ext cx="7886700"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5" name="Footer Placeholder 4"/>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6" name="Slide Number Placeholder 5"/>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3440212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05098" y="1421163"/>
            <a:ext cx="4309753" cy="47558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421163"/>
            <a:ext cx="4398737" cy="47558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6" name="Footer Placeholder 5"/>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7" name="Slide Number Placeholder 6"/>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905503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5726" y="365130"/>
            <a:ext cx="8954036" cy="69214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5724" y="1269207"/>
            <a:ext cx="4412457" cy="823912"/>
          </a:xfrm>
        </p:spPr>
        <p:txBody>
          <a:bodyPr anchor="b">
            <a:noAutofit/>
          </a:bodyPr>
          <a:lstStyle>
            <a:lvl1pPr marL="0" indent="0">
              <a:buNone/>
              <a:defRPr sz="21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85726" y="2093119"/>
            <a:ext cx="4412457" cy="4096544"/>
          </a:xfrm>
        </p:spPr>
        <p:txBody>
          <a:bodyPr>
            <a:normAutofit/>
          </a:bodyPr>
          <a:lstStyle>
            <a:lvl1pPr>
              <a:defRPr sz="2400"/>
            </a:lvl1pPr>
            <a:lvl2pPr>
              <a:defRPr sz="2100"/>
            </a:lvl2pPr>
            <a:lvl3pPr>
              <a:defRPr sz="1800"/>
            </a:lvl3pPr>
            <a:lvl4pPr>
              <a:defRPr sz="1500"/>
            </a:lvl4pPr>
            <a:lvl5pPr>
              <a:defRPr sz="15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1" y="1269207"/>
            <a:ext cx="4410611" cy="823912"/>
          </a:xfrm>
        </p:spPr>
        <p:txBody>
          <a:bodyPr anchor="b">
            <a:noAutofit/>
          </a:bodyPr>
          <a:lstStyle>
            <a:lvl1pPr marL="0" indent="0">
              <a:buNone/>
              <a:defRPr sz="21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4629152" y="2093119"/>
            <a:ext cx="4410610" cy="4096544"/>
          </a:xfrm>
        </p:spPr>
        <p:txBody>
          <a:bodyPr>
            <a:normAutofit/>
          </a:bodyPr>
          <a:lstStyle>
            <a:lvl1pPr>
              <a:defRPr sz="2400"/>
            </a:lvl1pPr>
            <a:lvl2pPr>
              <a:defRPr sz="2100"/>
            </a:lvl2pPr>
            <a:lvl3pPr>
              <a:defRPr sz="1800"/>
            </a:lvl3pPr>
            <a:lvl4pPr>
              <a:defRPr sz="1500"/>
            </a:lvl4pPr>
            <a:lvl5pPr>
              <a:defRPr sz="15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8" name="Footer Placeholder 7"/>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9" name="Slide Number Placeholder 8"/>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4234948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4" name="Footer Placeholder 3"/>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5" name="Slide Number Placeholder 4"/>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1084051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3" name="Footer Placeholder 2"/>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4" name="Slide Number Placeholder 3"/>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262037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205097" y="6451996"/>
            <a:ext cx="2057400" cy="365125"/>
          </a:xfrm>
          <a:prstGeom prst="rect">
            <a:avLst/>
          </a:prstGeom>
        </p:spPr>
        <p:txBody>
          <a:bodyPr/>
          <a:lstStyle/>
          <a:p>
            <a:r>
              <a:rPr kumimoji="1" lang="en-US" altLang="ja-JP"/>
              <a:t>2021/1/24</a:t>
            </a:r>
            <a:endParaRPr kumimoji="1" lang="ja-JP" altLang="en-US"/>
          </a:p>
        </p:txBody>
      </p:sp>
      <p:sp>
        <p:nvSpPr>
          <p:cNvPr id="5" name="Footer Placeholder 4"/>
          <p:cNvSpPr>
            <a:spLocks noGrp="1"/>
          </p:cNvSpPr>
          <p:nvPr>
            <p:ph type="ftr" sz="quarter" idx="11"/>
          </p:nvPr>
        </p:nvSpPr>
        <p:spPr>
          <a:xfrm>
            <a:off x="3040825" y="6427605"/>
            <a:ext cx="3086100" cy="365125"/>
          </a:xfrm>
          <a:prstGeom prst="rect">
            <a:avLst/>
          </a:prstGeom>
        </p:spPr>
        <p:txBody>
          <a:bodyPr/>
          <a:lstStyle/>
          <a:p>
            <a:r>
              <a:rPr kumimoji="1" lang="ja-JP" altLang="en-US"/>
              <a:t>共創イノベーション</a:t>
            </a:r>
          </a:p>
        </p:txBody>
      </p:sp>
      <p:sp>
        <p:nvSpPr>
          <p:cNvPr id="6" name="Slide Number Placeholder 5"/>
          <p:cNvSpPr>
            <a:spLocks noGrp="1"/>
          </p:cNvSpPr>
          <p:nvPr>
            <p:ph type="sldNum" sz="quarter" idx="12"/>
          </p:nvPr>
        </p:nvSpPr>
        <p:spPr/>
        <p:txBody>
          <a:bodyPr/>
          <a:lstStyle/>
          <a:p>
            <a:fld id="{4C52E306-C438-4B8F-8E66-DBADAD804C4A}" type="slidenum">
              <a:rPr kumimoji="1" lang="ja-JP" altLang="en-US" smtClean="0"/>
              <a:t>‹#›</a:t>
            </a:fld>
            <a:endParaRPr kumimoji="1" lang="ja-JP" altLang="en-US"/>
          </a:p>
        </p:txBody>
      </p:sp>
    </p:spTree>
    <p:extLst>
      <p:ext uri="{BB962C8B-B14F-4D97-AF65-F5344CB8AC3E}">
        <p14:creationId xmlns:p14="http://schemas.microsoft.com/office/powerpoint/2010/main" val="385128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正方形/長方形 12"/>
          <p:cNvSpPr/>
          <p:nvPr/>
        </p:nvSpPr>
        <p:spPr>
          <a:xfrm>
            <a:off x="0" y="0"/>
            <a:ext cx="9144000" cy="6858000"/>
          </a:xfrm>
          <a:prstGeom prst="rect">
            <a:avLst/>
          </a:prstGeom>
          <a:solidFill>
            <a:srgbClr val="FFF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Placeholder 1"/>
          <p:cNvSpPr>
            <a:spLocks noGrp="1"/>
          </p:cNvSpPr>
          <p:nvPr>
            <p:ph type="title"/>
          </p:nvPr>
        </p:nvSpPr>
        <p:spPr>
          <a:xfrm>
            <a:off x="193223" y="270893"/>
            <a:ext cx="8834664" cy="899631"/>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93222" y="1228457"/>
            <a:ext cx="8834664" cy="4989883"/>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6" name="Slide Number Placeholder 5"/>
          <p:cNvSpPr>
            <a:spLocks noGrp="1"/>
          </p:cNvSpPr>
          <p:nvPr>
            <p:ph type="sldNum" sz="quarter" idx="4"/>
          </p:nvPr>
        </p:nvSpPr>
        <p:spPr>
          <a:xfrm>
            <a:off x="6982361" y="6453748"/>
            <a:ext cx="2057400" cy="365125"/>
          </a:xfrm>
          <a:prstGeom prst="rect">
            <a:avLst/>
          </a:prstGeom>
          <a:solidFill>
            <a:srgbClr val="FFFDF0">
              <a:alpha val="50000"/>
            </a:srgbClr>
          </a:solidFill>
        </p:spPr>
        <p:txBody>
          <a:bodyPr vert="horz" lIns="91440" tIns="45720" rIns="91440" bIns="45720" rtlCol="0" anchor="ctr"/>
          <a:lstStyle>
            <a:lvl1pPr algn="r">
              <a:defRPr sz="1050">
                <a:solidFill>
                  <a:schemeClr val="tx1"/>
                </a:solidFill>
              </a:defRPr>
            </a:lvl1pPr>
          </a:lstStyle>
          <a:p>
            <a:fld id="{4C52E306-C438-4B8F-8E66-DBADAD804C4A}" type="slidenum">
              <a:rPr kumimoji="1" lang="ja-JP" altLang="en-US" smtClean="0"/>
              <a:pPr/>
              <a:t>‹#›</a:t>
            </a:fld>
            <a:endParaRPr kumimoji="1" lang="ja-JP" altLang="en-US"/>
          </a:p>
        </p:txBody>
      </p:sp>
      <p:sp>
        <p:nvSpPr>
          <p:cNvPr id="7" name="正方形/長方形 6">
            <a:extLst>
              <a:ext uri="{FF2B5EF4-FFF2-40B4-BE49-F238E27FC236}">
                <a16:creationId xmlns:a16="http://schemas.microsoft.com/office/drawing/2014/main" id="{1B6947DE-8FB9-69C6-80E8-DEE257CD0018}"/>
              </a:ext>
            </a:extLst>
          </p:cNvPr>
          <p:cNvSpPr/>
          <p:nvPr userDrawn="1"/>
        </p:nvSpPr>
        <p:spPr>
          <a:xfrm>
            <a:off x="0" y="6548971"/>
            <a:ext cx="9144000" cy="30903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正方形/長方形 8">
            <a:extLst>
              <a:ext uri="{FF2B5EF4-FFF2-40B4-BE49-F238E27FC236}">
                <a16:creationId xmlns:a16="http://schemas.microsoft.com/office/drawing/2014/main" id="{944B41A3-EE1B-C4C1-6DD3-1E413E71A647}"/>
              </a:ext>
            </a:extLst>
          </p:cNvPr>
          <p:cNvSpPr/>
          <p:nvPr userDrawn="1"/>
        </p:nvSpPr>
        <p:spPr>
          <a:xfrm>
            <a:off x="0" y="-1986"/>
            <a:ext cx="7614745" cy="309033"/>
          </a:xfrm>
          <a:prstGeom prst="rect">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a:p>
        </p:txBody>
      </p:sp>
      <p:pic>
        <p:nvPicPr>
          <p:cNvPr id="5" name="図 4" descr="テキスト が含まれている画像&#10;&#10;自動的に生成された説明">
            <a:extLst>
              <a:ext uri="{FF2B5EF4-FFF2-40B4-BE49-F238E27FC236}">
                <a16:creationId xmlns:a16="http://schemas.microsoft.com/office/drawing/2014/main" id="{A7939920-09DB-66B2-4BB9-F1A6B72EA4F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614745" y="-4"/>
            <a:ext cx="1529255" cy="436931"/>
          </a:xfrm>
          <a:prstGeom prst="rect">
            <a:avLst/>
          </a:prstGeom>
        </p:spPr>
      </p:pic>
    </p:spTree>
    <p:extLst>
      <p:ext uri="{BB962C8B-B14F-4D97-AF65-F5344CB8AC3E}">
        <p14:creationId xmlns:p14="http://schemas.microsoft.com/office/powerpoint/2010/main" val="4174357258"/>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Lst>
  <p:hf hdr="0" ftr="0" dt="0"/>
  <p:txStyles>
    <p:titleStyle>
      <a:lvl1pPr algn="l" defTabSz="685800" rtl="0" eaLnBrk="1" latinLnBrk="0" hangingPunct="1">
        <a:lnSpc>
          <a:spcPct val="90000"/>
        </a:lnSpc>
        <a:spcBef>
          <a:spcPct val="0"/>
        </a:spcBef>
        <a:buNone/>
        <a:defRPr kumimoji="1" sz="3300" b="1" kern="1200">
          <a:solidFill>
            <a:schemeClr val="tx1"/>
          </a:solidFill>
          <a:latin typeface="+mj-lt"/>
          <a:ea typeface="+mj-ea"/>
          <a:cs typeface="+mj-cs"/>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D62D-E094-5E39-F7E4-9C9B319BD9AA}"/>
            </a:ext>
          </a:extLst>
        </p:cNvPr>
        <p:cNvGrpSpPr/>
        <p:nvPr/>
      </p:nvGrpSpPr>
      <p:grpSpPr>
        <a:xfrm>
          <a:off x="0" y="0"/>
          <a:ext cx="0" cy="0"/>
          <a:chOff x="0" y="0"/>
          <a:chExt cx="0" cy="0"/>
        </a:xfrm>
      </p:grpSpPr>
      <p:sp>
        <p:nvSpPr>
          <p:cNvPr id="6" name="額縁 5">
            <a:extLst>
              <a:ext uri="{FF2B5EF4-FFF2-40B4-BE49-F238E27FC236}">
                <a16:creationId xmlns:a16="http://schemas.microsoft.com/office/drawing/2014/main" id="{E5DB187F-6E67-3B3E-DCA3-9780736A78D6}"/>
              </a:ext>
            </a:extLst>
          </p:cNvPr>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sym typeface="ヒラギノ角ゴ Pro W3" pitchFamily="-84" charset="-128"/>
              </a:rPr>
              <a:t>題材はなにか？</a:t>
            </a:r>
          </a:p>
        </p:txBody>
      </p:sp>
      <p:sp>
        <p:nvSpPr>
          <p:cNvPr id="9" name="テキスト ボックス 8">
            <a:extLst>
              <a:ext uri="{FF2B5EF4-FFF2-40B4-BE49-F238E27FC236}">
                <a16:creationId xmlns:a16="http://schemas.microsoft.com/office/drawing/2014/main" id="{6109C601-17D2-988D-C4EF-CA421016DE10}"/>
              </a:ext>
            </a:extLst>
          </p:cNvPr>
          <p:cNvSpPr txBox="1"/>
          <p:nvPr/>
        </p:nvSpPr>
        <p:spPr>
          <a:xfrm>
            <a:off x="310772" y="1117963"/>
            <a:ext cx="8412939" cy="584775"/>
          </a:xfrm>
          <a:prstGeom prst="rect">
            <a:avLst/>
          </a:prstGeom>
          <a:noFill/>
        </p:spPr>
        <p:txBody>
          <a:bodyPr wrap="square" rtlCol="0">
            <a:spAutoFit/>
          </a:bodyPr>
          <a:lstStyle/>
          <a:p>
            <a:pPr algn="l"/>
            <a:r>
              <a:rPr kumimoji="1" lang="ja-JP" altLang="en-US" sz="3200" dirty="0">
                <a:latin typeface="HGS創英角ｺﾞｼｯｸUB" panose="020B0900000000000000" pitchFamily="50" charset="-128"/>
                <a:ea typeface="HGS創英角ｺﾞｼｯｸUB" panose="020B0900000000000000" pitchFamily="50" charset="-128"/>
              </a:rPr>
              <a:t>春先から話題になっていた　マンジャロ問題</a:t>
            </a:r>
            <a:endParaRPr kumimoji="1" lang="en-US" altLang="ja-JP" sz="3200" dirty="0">
              <a:latin typeface="HGS創英角ｺﾞｼｯｸUB" panose="020B0900000000000000" pitchFamily="50" charset="-128"/>
              <a:ea typeface="HGS創英角ｺﾞｼｯｸUB" panose="020B0900000000000000" pitchFamily="50" charset="-128"/>
            </a:endParaRPr>
          </a:p>
        </p:txBody>
      </p:sp>
      <p:sp>
        <p:nvSpPr>
          <p:cNvPr id="2" name="スライド番号プレースホルダー 1">
            <a:extLst>
              <a:ext uri="{FF2B5EF4-FFF2-40B4-BE49-F238E27FC236}">
                <a16:creationId xmlns:a16="http://schemas.microsoft.com/office/drawing/2014/main" id="{12162BD0-178E-6D04-51EA-756B11DD2826}"/>
              </a:ext>
            </a:extLst>
          </p:cNvPr>
          <p:cNvSpPr>
            <a:spLocks noGrp="1"/>
          </p:cNvSpPr>
          <p:nvPr>
            <p:ph type="sldNum" sz="quarter" idx="10"/>
          </p:nvPr>
        </p:nvSpPr>
        <p:spPr/>
        <p:txBody>
          <a:bodyPr/>
          <a:lstStyle/>
          <a:p>
            <a:pPr>
              <a:defRPr/>
            </a:pPr>
            <a:fld id="{90303C1F-567D-4446-A625-F0737271D35A}" type="slidenum">
              <a:rPr lang="ja-JP" altLang="en-US" smtClean="0"/>
              <a:pPr>
                <a:defRPr/>
              </a:pPr>
              <a:t>1</a:t>
            </a:fld>
            <a:endParaRPr lang="en-US" altLang="ja-JP"/>
          </a:p>
        </p:txBody>
      </p:sp>
      <p:pic>
        <p:nvPicPr>
          <p:cNvPr id="4" name="図 3" descr="新聞, 店, 若い, 記号 が含まれている画像&#10;&#10;AI 生成コンテンツは誤りを含む可能性があります。">
            <a:extLst>
              <a:ext uri="{FF2B5EF4-FFF2-40B4-BE49-F238E27FC236}">
                <a16:creationId xmlns:a16="http://schemas.microsoft.com/office/drawing/2014/main" id="{473875D9-5C11-DFC0-D15C-A1004A377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734" y="1896269"/>
            <a:ext cx="7755013" cy="4362195"/>
          </a:xfrm>
          <a:prstGeom prst="rect">
            <a:avLst/>
          </a:prstGeom>
          <a:ln w="76200">
            <a:solidFill>
              <a:srgbClr val="FF0000"/>
            </a:solidFill>
          </a:ln>
        </p:spPr>
      </p:pic>
    </p:spTree>
    <p:extLst>
      <p:ext uri="{BB962C8B-B14F-4D97-AF65-F5344CB8AC3E}">
        <p14:creationId xmlns:p14="http://schemas.microsoft.com/office/powerpoint/2010/main" val="1737244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額縁 5"/>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rPr>
              <a:t>ゲームの制作ジャンルは</a:t>
            </a:r>
            <a:r>
              <a:rPr lang="en-US" altLang="ja-JP" sz="2531" dirty="0">
                <a:solidFill>
                  <a:schemeClr val="bg1"/>
                </a:solidFill>
                <a:latin typeface="HGP行書体" panose="03000600000000000000" pitchFamily="66" charset="-128"/>
                <a:ea typeface="HGP行書体" panose="03000600000000000000" pitchFamily="66" charset="-128"/>
                <a:cs typeface="メイリオ" pitchFamily="50" charset="-128"/>
              </a:rPr>
              <a:t>…</a:t>
            </a:r>
            <a:endPar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endParaRPr>
          </a:p>
        </p:txBody>
      </p:sp>
      <p:sp>
        <p:nvSpPr>
          <p:cNvPr id="9" name="テキスト ボックス 8"/>
          <p:cNvSpPr txBox="1"/>
          <p:nvPr/>
        </p:nvSpPr>
        <p:spPr>
          <a:xfrm>
            <a:off x="268396" y="1099992"/>
            <a:ext cx="8255401" cy="5355312"/>
          </a:xfrm>
          <a:prstGeom prst="rect">
            <a:avLst/>
          </a:prstGeom>
          <a:noFill/>
        </p:spPr>
        <p:txBody>
          <a:bodyPr wrap="square" rtlCol="0">
            <a:spAutoFit/>
          </a:bodyPr>
          <a:lstStyle/>
          <a:p>
            <a:pPr algn="l"/>
            <a:r>
              <a:rPr kumimoji="1" lang="ja-JP" altLang="en-US" sz="3600" dirty="0">
                <a:latin typeface="HGS創英角ｺﾞｼｯｸUB" panose="020B0900000000000000" pitchFamily="50" charset="-128"/>
                <a:ea typeface="HGS創英角ｺﾞｼｯｸUB" panose="020B0900000000000000" pitchFamily="50" charset="-128"/>
              </a:rPr>
              <a:t>今回の制作ジャンルは</a:t>
            </a:r>
            <a:r>
              <a:rPr kumimoji="1" lang="en-US" altLang="ja-JP" sz="3600" dirty="0">
                <a:latin typeface="HGS創英角ｺﾞｼｯｸUB" panose="020B0900000000000000" pitchFamily="50" charset="-128"/>
                <a:ea typeface="HGS創英角ｺﾞｼｯｸUB" panose="020B0900000000000000" pitchFamily="50" charset="-128"/>
              </a:rPr>
              <a:t>…</a:t>
            </a:r>
          </a:p>
          <a:p>
            <a:pPr algn="l"/>
            <a:endParaRPr kumimoji="1" lang="en-US" altLang="ja-JP"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solidFill>
                  <a:srgbClr val="0000FF"/>
                </a:solidFill>
                <a:latin typeface="HGS創英角ｺﾞｼｯｸUB" panose="020B0900000000000000" pitchFamily="50" charset="-128"/>
                <a:ea typeface="HGS創英角ｺﾞｼｯｸUB" panose="020B0900000000000000" pitchFamily="50" charset="-128"/>
              </a:rPr>
              <a:t>〇</a:t>
            </a:r>
            <a:r>
              <a:rPr kumimoji="1" lang="ja-JP" altLang="en-US" sz="3600" dirty="0">
                <a:latin typeface="HGS創英角ｺﾞｼｯｸUB" panose="020B0900000000000000" pitchFamily="50" charset="-128"/>
                <a:ea typeface="HGS創英角ｺﾞｼｯｸUB" panose="020B0900000000000000" pitchFamily="50" charset="-128"/>
              </a:rPr>
              <a:t>アクションゲーム</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solidFill>
                  <a:srgbClr val="0000FF"/>
                </a:solidFill>
                <a:latin typeface="HGS創英角ｺﾞｼｯｸUB" panose="020B0900000000000000" pitchFamily="50" charset="-128"/>
                <a:ea typeface="HGS創英角ｺﾞｼｯｸUB" panose="020B0900000000000000" pitchFamily="50" charset="-128"/>
              </a:rPr>
              <a:t>〇</a:t>
            </a:r>
            <a:r>
              <a:rPr kumimoji="1" lang="ja-JP" altLang="en-US" sz="3600" dirty="0">
                <a:latin typeface="HGS創英角ｺﾞｼｯｸUB" panose="020B0900000000000000" pitchFamily="50" charset="-128"/>
                <a:ea typeface="HGS創英角ｺﾞｼｯｸUB" panose="020B0900000000000000" pitchFamily="50" charset="-128"/>
              </a:rPr>
              <a:t>パズルゲーム</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solidFill>
                  <a:srgbClr val="0000FF"/>
                </a:solidFill>
                <a:latin typeface="HGS創英角ｺﾞｼｯｸUB" panose="020B0900000000000000" pitchFamily="50" charset="-128"/>
                <a:ea typeface="HGS創英角ｺﾞｼｯｸUB" panose="020B0900000000000000" pitchFamily="50" charset="-128"/>
              </a:rPr>
              <a:t>〇</a:t>
            </a:r>
            <a:r>
              <a:rPr kumimoji="1" lang="ja-JP" altLang="en-US" sz="3600" dirty="0">
                <a:latin typeface="HGS創英角ｺﾞｼｯｸUB" panose="020B0900000000000000" pitchFamily="50" charset="-128"/>
                <a:ea typeface="HGS創英角ｺﾞｼｯｸUB" panose="020B0900000000000000" pitchFamily="50" charset="-128"/>
              </a:rPr>
              <a:t>ボードゲーム・カードゲーム</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solidFill>
                  <a:srgbClr val="0000FF"/>
                </a:solidFill>
                <a:latin typeface="HGS創英角ｺﾞｼｯｸUB" panose="020B0900000000000000" pitchFamily="50" charset="-128"/>
                <a:ea typeface="HGS創英角ｺﾞｼｯｸUB" panose="020B0900000000000000" pitchFamily="50" charset="-128"/>
              </a:rPr>
              <a:t>〇</a:t>
            </a:r>
            <a:r>
              <a:rPr kumimoji="1" lang="ja-JP" altLang="en-US" sz="3600" dirty="0">
                <a:latin typeface="HGS創英角ｺﾞｼｯｸUB" panose="020B0900000000000000" pitchFamily="50" charset="-128"/>
                <a:ea typeface="HGS創英角ｺﾞｼｯｸUB" panose="020B0900000000000000" pitchFamily="50" charset="-128"/>
              </a:rPr>
              <a:t>シューティングゲーム</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solidFill>
                  <a:srgbClr val="0000FF"/>
                </a:solidFill>
                <a:latin typeface="HGS創英角ｺﾞｼｯｸUB" panose="020B0900000000000000" pitchFamily="50" charset="-128"/>
                <a:ea typeface="HGS創英角ｺﾞｼｯｸUB" panose="020B0900000000000000" pitchFamily="50" charset="-128"/>
              </a:rPr>
              <a:t>〇</a:t>
            </a:r>
            <a:r>
              <a:rPr kumimoji="1" lang="ja-JP" altLang="en-US" sz="3600" dirty="0">
                <a:latin typeface="HGS創英角ｺﾞｼｯｸUB" panose="020B0900000000000000" pitchFamily="50" charset="-128"/>
                <a:ea typeface="HGS創英角ｺﾞｼｯｸUB" panose="020B0900000000000000" pitchFamily="50" charset="-128"/>
              </a:rPr>
              <a:t>音ゲー</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en-US" altLang="ja-JP" sz="3600" dirty="0">
                <a:solidFill>
                  <a:srgbClr val="FF0000"/>
                </a:solidFill>
                <a:latin typeface="HGS創英角ｺﾞｼｯｸUB" panose="020B0900000000000000" pitchFamily="50" charset="-128"/>
                <a:ea typeface="HGS創英角ｺﾞｼｯｸUB" panose="020B0900000000000000" pitchFamily="50" charset="-128"/>
              </a:rPr>
              <a:t>×</a:t>
            </a:r>
            <a:r>
              <a:rPr kumimoji="1" lang="en-US" altLang="ja-JP" sz="3600" dirty="0">
                <a:latin typeface="HGS創英角ｺﾞｼｯｸUB" panose="020B0900000000000000" pitchFamily="50" charset="-128"/>
                <a:ea typeface="HGS創英角ｺﾞｼｯｸUB" panose="020B0900000000000000" pitchFamily="50" charset="-128"/>
              </a:rPr>
              <a:t>RPG</a:t>
            </a:r>
          </a:p>
          <a:p>
            <a:pPr algn="l"/>
            <a:r>
              <a:rPr kumimoji="1" lang="en-US" altLang="ja-JP" sz="3600" dirty="0">
                <a:solidFill>
                  <a:srgbClr val="FF0000"/>
                </a:solidFill>
                <a:latin typeface="HGS創英角ｺﾞｼｯｸUB" panose="020B0900000000000000" pitchFamily="50" charset="-128"/>
                <a:ea typeface="HGS創英角ｺﾞｼｯｸUB" panose="020B0900000000000000" pitchFamily="50" charset="-128"/>
              </a:rPr>
              <a:t>×</a:t>
            </a:r>
            <a:r>
              <a:rPr kumimoji="1" lang="ja-JP" altLang="en-US" sz="3600" dirty="0">
                <a:latin typeface="HGS創英角ｺﾞｼｯｸUB" panose="020B0900000000000000" pitchFamily="50" charset="-128"/>
                <a:ea typeface="HGS創英角ｺﾞｼｯｸUB" panose="020B0900000000000000" pitchFamily="50" charset="-128"/>
              </a:rPr>
              <a:t>ノベルゲーム</a:t>
            </a:r>
            <a:endParaRPr kumimoji="1" lang="en-US" altLang="ja-JP" sz="3600" dirty="0">
              <a:latin typeface="HGS創英角ｺﾞｼｯｸUB" panose="020B0900000000000000" pitchFamily="50" charset="-128"/>
              <a:ea typeface="HGS創英角ｺﾞｼｯｸUB" panose="020B0900000000000000" pitchFamily="50" charset="-128"/>
            </a:endParaRPr>
          </a:p>
          <a:p>
            <a:pPr algn="l"/>
            <a:r>
              <a:rPr kumimoji="1" lang="ja-JP" altLang="en-US" sz="3600" dirty="0">
                <a:latin typeface="HGS創英角ｺﾞｼｯｸUB" panose="020B0900000000000000" pitchFamily="50" charset="-128"/>
                <a:ea typeface="HGS創英角ｺﾞｼｯｸUB" panose="020B0900000000000000" pitchFamily="50" charset="-128"/>
              </a:rPr>
              <a:t>△シミュレーションゲーム</a:t>
            </a:r>
            <a:endParaRPr kumimoji="1" lang="en-US" altLang="ja-JP" sz="3600" dirty="0">
              <a:latin typeface="HGS創英角ｺﾞｼｯｸUB" panose="020B0900000000000000" pitchFamily="50" charset="-128"/>
              <a:ea typeface="HGS創英角ｺﾞｼｯｸUB" panose="020B0900000000000000" pitchFamily="50" charset="-128"/>
            </a:endParaRP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2</a:t>
            </a:fld>
            <a:endParaRPr lang="en-US" altLang="ja-JP"/>
          </a:p>
        </p:txBody>
      </p:sp>
    </p:spTree>
    <p:extLst>
      <p:ext uri="{BB962C8B-B14F-4D97-AF65-F5344CB8AC3E}">
        <p14:creationId xmlns:p14="http://schemas.microsoft.com/office/powerpoint/2010/main" val="3413715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BEA1D-DB18-C00D-1A04-0A5088C6C8E4}"/>
            </a:ext>
          </a:extLst>
        </p:cNvPr>
        <p:cNvGrpSpPr/>
        <p:nvPr/>
      </p:nvGrpSpPr>
      <p:grpSpPr>
        <a:xfrm>
          <a:off x="0" y="0"/>
          <a:ext cx="0" cy="0"/>
          <a:chOff x="0" y="0"/>
          <a:chExt cx="0" cy="0"/>
        </a:xfrm>
      </p:grpSpPr>
      <p:sp>
        <p:nvSpPr>
          <p:cNvPr id="6" name="額縁 5">
            <a:extLst>
              <a:ext uri="{FF2B5EF4-FFF2-40B4-BE49-F238E27FC236}">
                <a16:creationId xmlns:a16="http://schemas.microsoft.com/office/drawing/2014/main" id="{3AB05990-ECD8-66D1-534A-376A4429D3D4}"/>
              </a:ext>
            </a:extLst>
          </p:cNvPr>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rPr>
              <a:t>どんなゲームをつくれば</a:t>
            </a:r>
            <a:r>
              <a:rPr lang="en-US" altLang="ja-JP"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rPr>
              <a:t>…</a:t>
            </a:r>
            <a:endPar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endParaRPr>
          </a:p>
        </p:txBody>
      </p:sp>
      <p:sp>
        <p:nvSpPr>
          <p:cNvPr id="9" name="テキスト ボックス 8">
            <a:extLst>
              <a:ext uri="{FF2B5EF4-FFF2-40B4-BE49-F238E27FC236}">
                <a16:creationId xmlns:a16="http://schemas.microsoft.com/office/drawing/2014/main" id="{1A64DDA0-DE55-3E17-BD06-F28F60B60D85}"/>
              </a:ext>
            </a:extLst>
          </p:cNvPr>
          <p:cNvSpPr txBox="1"/>
          <p:nvPr/>
        </p:nvSpPr>
        <p:spPr>
          <a:xfrm>
            <a:off x="132328" y="1131559"/>
            <a:ext cx="8879343" cy="2308324"/>
          </a:xfrm>
          <a:prstGeom prst="rect">
            <a:avLst/>
          </a:prstGeom>
          <a:noFill/>
        </p:spPr>
        <p:txBody>
          <a:bodyPr wrap="square" rtlCol="0">
            <a:spAutoFit/>
          </a:bodyPr>
          <a:lstStyle/>
          <a:p>
            <a:pPr algn="l"/>
            <a:r>
              <a:rPr kumimoji="1" lang="ja-JP" altLang="en-US" sz="4800" dirty="0">
                <a:latin typeface="HGS創英角ｺﾞｼｯｸUB" panose="020B0900000000000000" pitchFamily="50" charset="-128"/>
                <a:ea typeface="HGS創英角ｺﾞｼｯｸUB" panose="020B0900000000000000" pitchFamily="50" charset="-128"/>
              </a:rPr>
              <a:t>「このゲームをやると</a:t>
            </a:r>
            <a:endParaRPr kumimoji="1" lang="en-US" altLang="ja-JP" sz="4800" dirty="0">
              <a:latin typeface="HGS創英角ｺﾞｼｯｸUB" panose="020B0900000000000000" pitchFamily="50" charset="-128"/>
              <a:ea typeface="HGS創英角ｺﾞｼｯｸUB" panose="020B0900000000000000" pitchFamily="50" charset="-128"/>
            </a:endParaRPr>
          </a:p>
          <a:p>
            <a:pPr algn="l"/>
            <a:r>
              <a:rPr kumimoji="1" lang="ja-JP" altLang="en-US" sz="4800" dirty="0">
                <a:latin typeface="HGS創英角ｺﾞｼｯｸUB" panose="020B0900000000000000" pitchFamily="50" charset="-128"/>
                <a:ea typeface="HGS創英角ｺﾞｼｯｸUB" panose="020B0900000000000000" pitchFamily="50" charset="-128"/>
              </a:rPr>
              <a:t>　　</a:t>
            </a:r>
            <a:r>
              <a:rPr kumimoji="1" lang="ja-JP" altLang="en-US" sz="4800" dirty="0">
                <a:solidFill>
                  <a:srgbClr val="FF0000"/>
                </a:solidFill>
                <a:latin typeface="HGS創英角ｺﾞｼｯｸUB" panose="020B0900000000000000" pitchFamily="50" charset="-128"/>
                <a:ea typeface="HGS創英角ｺﾞｼｯｸUB" panose="020B0900000000000000" pitchFamily="50" charset="-128"/>
              </a:rPr>
              <a:t>マンジャロ問題に意識を</a:t>
            </a:r>
            <a:endParaRPr kumimoji="1" lang="en-US" altLang="ja-JP" sz="4800" dirty="0">
              <a:solidFill>
                <a:srgbClr val="FF0000"/>
              </a:solidFill>
              <a:latin typeface="HGS創英角ｺﾞｼｯｸUB" panose="020B0900000000000000" pitchFamily="50" charset="-128"/>
              <a:ea typeface="HGS創英角ｺﾞｼｯｸUB" panose="020B0900000000000000" pitchFamily="50" charset="-128"/>
            </a:endParaRPr>
          </a:p>
          <a:p>
            <a:pPr algn="l"/>
            <a:r>
              <a:rPr kumimoji="1" lang="ja-JP" altLang="en-US" sz="4800" dirty="0">
                <a:latin typeface="HGS創英角ｺﾞｼｯｸUB" panose="020B0900000000000000" pitchFamily="50" charset="-128"/>
                <a:ea typeface="HGS創英角ｺﾞｼｯｸUB" panose="020B0900000000000000" pitchFamily="50" charset="-128"/>
              </a:rPr>
              <a:t>　　　　　　　強く感じる</a:t>
            </a:r>
            <a:r>
              <a:rPr kumimoji="1" lang="en-US" altLang="ja-JP" sz="4800" dirty="0">
                <a:latin typeface="HGS創英角ｺﾞｼｯｸUB" panose="020B0900000000000000" pitchFamily="50" charset="-128"/>
                <a:ea typeface="HGS創英角ｺﾞｼｯｸUB" panose="020B0900000000000000" pitchFamily="50" charset="-128"/>
              </a:rPr>
              <a:t>…</a:t>
            </a:r>
            <a:r>
              <a:rPr kumimoji="1" lang="ja-JP" altLang="en-US" sz="4800" dirty="0">
                <a:latin typeface="HGS創英角ｺﾞｼｯｸUB" panose="020B0900000000000000" pitchFamily="50" charset="-128"/>
                <a:ea typeface="HGS創英角ｺﾞｼｯｸUB" panose="020B0900000000000000" pitchFamily="50" charset="-128"/>
              </a:rPr>
              <a:t>」</a:t>
            </a:r>
            <a:endParaRPr kumimoji="1" lang="en-US" altLang="ja-JP" sz="4800" dirty="0">
              <a:latin typeface="HGS創英角ｺﾞｼｯｸUB" panose="020B0900000000000000" pitchFamily="50" charset="-128"/>
              <a:ea typeface="HGS創英角ｺﾞｼｯｸUB" panose="020B0900000000000000" pitchFamily="50" charset="-128"/>
            </a:endParaRPr>
          </a:p>
        </p:txBody>
      </p:sp>
      <p:sp>
        <p:nvSpPr>
          <p:cNvPr id="2" name="スライド番号プレースホルダー 1">
            <a:extLst>
              <a:ext uri="{FF2B5EF4-FFF2-40B4-BE49-F238E27FC236}">
                <a16:creationId xmlns:a16="http://schemas.microsoft.com/office/drawing/2014/main" id="{DD465262-7354-6AC7-01A1-4CDFA7812607}"/>
              </a:ext>
            </a:extLst>
          </p:cNvPr>
          <p:cNvSpPr>
            <a:spLocks noGrp="1"/>
          </p:cNvSpPr>
          <p:nvPr>
            <p:ph type="sldNum" sz="quarter" idx="10"/>
          </p:nvPr>
        </p:nvSpPr>
        <p:spPr/>
        <p:txBody>
          <a:bodyPr/>
          <a:lstStyle/>
          <a:p>
            <a:pPr>
              <a:defRPr/>
            </a:pPr>
            <a:fld id="{90303C1F-567D-4446-A625-F0737271D35A}" type="slidenum">
              <a:rPr lang="ja-JP" altLang="en-US" smtClean="0"/>
              <a:pPr>
                <a:defRPr/>
              </a:pPr>
              <a:t>3</a:t>
            </a:fld>
            <a:endParaRPr lang="en-US" altLang="ja-JP"/>
          </a:p>
        </p:txBody>
      </p:sp>
      <p:sp>
        <p:nvSpPr>
          <p:cNvPr id="3" name="矢印: 下 2">
            <a:extLst>
              <a:ext uri="{FF2B5EF4-FFF2-40B4-BE49-F238E27FC236}">
                <a16:creationId xmlns:a16="http://schemas.microsoft.com/office/drawing/2014/main" id="{6894D63E-5854-500C-455E-C367B58270B6}"/>
              </a:ext>
            </a:extLst>
          </p:cNvPr>
          <p:cNvSpPr/>
          <p:nvPr/>
        </p:nvSpPr>
        <p:spPr>
          <a:xfrm>
            <a:off x="3013544" y="3533207"/>
            <a:ext cx="2520564" cy="560430"/>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FF8FF519-8F14-EFD4-987E-6203EBD91AD2}"/>
              </a:ext>
            </a:extLst>
          </p:cNvPr>
          <p:cNvSpPr/>
          <p:nvPr/>
        </p:nvSpPr>
        <p:spPr>
          <a:xfrm>
            <a:off x="799105" y="4723073"/>
            <a:ext cx="7462299" cy="1645921"/>
          </a:xfrm>
          <a:prstGeom prst="roundRect">
            <a:avLst/>
          </a:prstGeom>
          <a:solidFill>
            <a:schemeClr val="accent5">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結果として、マンジャロの使用についての</a:t>
            </a:r>
            <a:endParaRPr kumimoji="1" lang="en-US" altLang="ja-JP" sz="2800" dirty="0">
              <a:solidFill>
                <a:schemeClr val="tx1"/>
              </a:solidFill>
              <a:latin typeface="HGP創英角ｺﾞｼｯｸUB" panose="020B0900000000000000" pitchFamily="50" charset="-128"/>
              <a:ea typeface="HGP創英角ｺﾞｼｯｸUB" panose="020B0900000000000000" pitchFamily="50" charset="-128"/>
            </a:endParaRPr>
          </a:p>
          <a:p>
            <a:pPr algn="ctr"/>
            <a:r>
              <a:rPr kumimoji="1" lang="ja-JP" altLang="en-US" sz="2800" dirty="0">
                <a:solidFill>
                  <a:srgbClr val="FF0000"/>
                </a:solidFill>
                <a:latin typeface="HGP創英角ｺﾞｼｯｸUB" panose="020B0900000000000000" pitchFamily="50" charset="-128"/>
                <a:ea typeface="HGP創英角ｺﾞｼｯｸUB" panose="020B0900000000000000" pitchFamily="50" charset="-128"/>
              </a:rPr>
              <a:t>啓発や注意喚起</a:t>
            </a: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がなぜ起こったのか？を</a:t>
            </a:r>
            <a:endParaRPr kumimoji="1" lang="en-US" altLang="ja-JP" sz="2800" dirty="0">
              <a:solidFill>
                <a:schemeClr val="tx1"/>
              </a:solidFill>
              <a:latin typeface="HGP創英角ｺﾞｼｯｸUB" panose="020B0900000000000000" pitchFamily="50" charset="-128"/>
              <a:ea typeface="HGP創英角ｺﾞｼｯｸUB" panose="020B0900000000000000" pitchFamily="50" charset="-128"/>
            </a:endParaRPr>
          </a:p>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実感・解決案</a:t>
            </a:r>
          </a:p>
        </p:txBody>
      </p:sp>
      <p:sp>
        <p:nvSpPr>
          <p:cNvPr id="5" name="四角形: 角を丸くする 4">
            <a:extLst>
              <a:ext uri="{FF2B5EF4-FFF2-40B4-BE49-F238E27FC236}">
                <a16:creationId xmlns:a16="http://schemas.microsoft.com/office/drawing/2014/main" id="{4A535075-96D4-5055-91EA-114A443CFFCD}"/>
              </a:ext>
            </a:extLst>
          </p:cNvPr>
          <p:cNvSpPr/>
          <p:nvPr/>
        </p:nvSpPr>
        <p:spPr>
          <a:xfrm>
            <a:off x="286247" y="4186961"/>
            <a:ext cx="3363402" cy="742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rPr>
              <a:t>GOAL</a:t>
            </a:r>
            <a:r>
              <a:rPr kumimoji="1" lang="ja-JP" altLang="en-US" sz="3200" dirty="0">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rPr>
              <a:t>目標</a:t>
            </a:r>
          </a:p>
        </p:txBody>
      </p:sp>
      <p:pic>
        <p:nvPicPr>
          <p:cNvPr id="11" name="図 10" descr="おもちゃ, 人形 が含まれている画像&#10;&#10;AI 生成コンテンツは誤りを含む可能性があります。">
            <a:extLst>
              <a:ext uri="{FF2B5EF4-FFF2-40B4-BE49-F238E27FC236}">
                <a16:creationId xmlns:a16="http://schemas.microsoft.com/office/drawing/2014/main" id="{B09DD345-2F0D-F6E5-F9BE-5CD6FC089F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96" y="4688783"/>
            <a:ext cx="1714500" cy="1714500"/>
          </a:xfrm>
          <a:prstGeom prst="rect">
            <a:avLst/>
          </a:prstGeom>
        </p:spPr>
      </p:pic>
      <p:pic>
        <p:nvPicPr>
          <p:cNvPr id="13" name="図 12" descr="白いバックグラウンドの前に座っている人形&#10;&#10;AI 生成コンテンツは誤りを含む可能性があります。">
            <a:extLst>
              <a:ext uri="{FF2B5EF4-FFF2-40B4-BE49-F238E27FC236}">
                <a16:creationId xmlns:a16="http://schemas.microsoft.com/office/drawing/2014/main" id="{0F3176F2-90DA-7276-5553-932A7115F9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31530" y="4554415"/>
            <a:ext cx="1612470" cy="1856080"/>
          </a:xfrm>
          <a:prstGeom prst="rect">
            <a:avLst/>
          </a:prstGeom>
        </p:spPr>
      </p:pic>
    </p:spTree>
    <p:extLst>
      <p:ext uri="{BB962C8B-B14F-4D97-AF65-F5344CB8AC3E}">
        <p14:creationId xmlns:p14="http://schemas.microsoft.com/office/powerpoint/2010/main" val="2072681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p:cNvSpPr txBox="1"/>
          <p:nvPr/>
        </p:nvSpPr>
        <p:spPr>
          <a:xfrm>
            <a:off x="572181" y="1099992"/>
            <a:ext cx="7999639" cy="5509200"/>
          </a:xfrm>
          <a:prstGeom prst="rect">
            <a:avLst/>
          </a:prstGeom>
          <a:noFill/>
        </p:spPr>
        <p:txBody>
          <a:bodyPr wrap="square" rtlCol="0">
            <a:spAutoFit/>
          </a:bodyPr>
          <a:lstStyle/>
          <a:p>
            <a:pPr algn="l"/>
            <a:r>
              <a:rPr kumimoji="1" lang="ja-JP" altLang="en-US" sz="3200" dirty="0">
                <a:latin typeface="HGS創英角ｺﾞｼｯｸUB" panose="020B0900000000000000" pitchFamily="50" charset="-128"/>
                <a:ea typeface="HGS創英角ｺﾞｼｯｸUB" panose="020B0900000000000000" pitchFamily="50" charset="-128"/>
              </a:rPr>
              <a:t>①リーダー、メインプログラマ決める！</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❶タイトル</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❷主人公（誰が）</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❸ステージ（どこで・どんな状況で）</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❹なんの手段を講じて</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❺どんな小目的を達成しつつ</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latin typeface="HGS創英角ｺﾞｼｯｸUB" panose="020B0900000000000000" pitchFamily="50" charset="-128"/>
                <a:ea typeface="HGS創英角ｺﾞｼｯｸUB" panose="020B0900000000000000" pitchFamily="50" charset="-128"/>
              </a:rPr>
              <a:t>❻最終的にどんな大目的を解決するか？</a:t>
            </a:r>
            <a:endParaRPr kumimoji="1" lang="en-US" altLang="ja-JP" sz="3200" dirty="0">
              <a:latin typeface="HGS創英角ｺﾞｼｯｸUB" panose="020B0900000000000000" pitchFamily="50" charset="-128"/>
              <a:ea typeface="HGS創英角ｺﾞｼｯｸUB" panose="020B0900000000000000" pitchFamily="50" charset="-128"/>
            </a:endParaRPr>
          </a:p>
          <a:p>
            <a:pPr algn="l"/>
            <a:r>
              <a:rPr kumimoji="1" lang="ja-JP" altLang="en-US" sz="3200" dirty="0">
                <a:solidFill>
                  <a:srgbClr val="0000FF"/>
                </a:solidFill>
                <a:latin typeface="HGS創英角ｺﾞｼｯｸUB" panose="020B0900000000000000" pitchFamily="50" charset="-128"/>
                <a:ea typeface="HGS創英角ｺﾞｼｯｸUB" panose="020B0900000000000000" pitchFamily="50" charset="-128"/>
              </a:rPr>
              <a:t>❼このゲームをプレイすると</a:t>
            </a:r>
            <a:r>
              <a:rPr kumimoji="1" lang="en-US" altLang="ja-JP" sz="3200" dirty="0">
                <a:solidFill>
                  <a:srgbClr val="0000FF"/>
                </a:solidFill>
                <a:latin typeface="HGS創英角ｺﾞｼｯｸUB" panose="020B0900000000000000" pitchFamily="50" charset="-128"/>
                <a:ea typeface="HGS創英角ｺﾞｼｯｸUB" panose="020B0900000000000000" pitchFamily="50" charset="-128"/>
              </a:rPr>
              <a:t>…</a:t>
            </a:r>
          </a:p>
          <a:p>
            <a:pPr algn="l"/>
            <a:r>
              <a:rPr kumimoji="1" lang="ja-JP" altLang="en-US" sz="3200" dirty="0">
                <a:solidFill>
                  <a:srgbClr val="0000FF"/>
                </a:solidFill>
                <a:latin typeface="HGS創英角ｺﾞｼｯｸUB" panose="020B0900000000000000" pitchFamily="50" charset="-128"/>
                <a:ea typeface="HGS創英角ｺﾞｼｯｸUB" panose="020B0900000000000000" pitchFamily="50" charset="-128"/>
              </a:rPr>
              <a:t>　どう、コメ価格問題を意識できるように</a:t>
            </a:r>
            <a:endParaRPr kumimoji="1" lang="en-US" altLang="ja-JP" sz="3200" dirty="0">
              <a:solidFill>
                <a:srgbClr val="0000FF"/>
              </a:solidFill>
              <a:latin typeface="HGS創英角ｺﾞｼｯｸUB" panose="020B0900000000000000" pitchFamily="50" charset="-128"/>
              <a:ea typeface="HGS創英角ｺﾞｼｯｸUB" panose="020B0900000000000000" pitchFamily="50" charset="-128"/>
            </a:endParaRPr>
          </a:p>
          <a:p>
            <a:pPr algn="l"/>
            <a:r>
              <a:rPr kumimoji="1" lang="ja-JP" altLang="en-US" sz="3200" dirty="0">
                <a:solidFill>
                  <a:srgbClr val="0000FF"/>
                </a:solidFill>
                <a:latin typeface="HGS創英角ｺﾞｼｯｸUB" panose="020B0900000000000000" pitchFamily="50" charset="-128"/>
                <a:ea typeface="HGS創英角ｺﾞｼｯｸUB" panose="020B0900000000000000" pitchFamily="50" charset="-128"/>
              </a:rPr>
              <a:t>　なるか？</a:t>
            </a:r>
            <a:endParaRPr kumimoji="1" lang="en-US" altLang="ja-JP" sz="3200" dirty="0">
              <a:solidFill>
                <a:srgbClr val="0000FF"/>
              </a:solidFill>
              <a:latin typeface="HGS創英角ｺﾞｼｯｸUB" panose="020B0900000000000000" pitchFamily="50" charset="-128"/>
              <a:ea typeface="HGS創英角ｺﾞｼｯｸUB" panose="020B0900000000000000" pitchFamily="50" charset="-128"/>
            </a:endParaRP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4</a:t>
            </a:fld>
            <a:endParaRPr lang="en-US" altLang="ja-JP"/>
          </a:p>
        </p:txBody>
      </p:sp>
      <p:sp>
        <p:nvSpPr>
          <p:cNvPr id="5" name="額縁 5">
            <a:extLst>
              <a:ext uri="{FF2B5EF4-FFF2-40B4-BE49-F238E27FC236}">
                <a16:creationId xmlns:a16="http://schemas.microsoft.com/office/drawing/2014/main" id="{55789EA1-9FE3-48F4-B61C-E4B57D33E69D}"/>
              </a:ext>
            </a:extLst>
          </p:cNvPr>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rPr>
              <a:t>決めてほしいこと</a:t>
            </a:r>
          </a:p>
        </p:txBody>
      </p:sp>
    </p:spTree>
    <p:extLst>
      <p:ext uri="{BB962C8B-B14F-4D97-AF65-F5344CB8AC3E}">
        <p14:creationId xmlns:p14="http://schemas.microsoft.com/office/powerpoint/2010/main" val="1026985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図 108">
            <a:extLst>
              <a:ext uri="{FF2B5EF4-FFF2-40B4-BE49-F238E27FC236}">
                <a16:creationId xmlns:a16="http://schemas.microsoft.com/office/drawing/2014/main" id="{0D62C35F-9A22-F8BC-4748-1BCFAC75317F}"/>
              </a:ext>
            </a:extLst>
          </p:cNvPr>
          <p:cNvPicPr>
            <a:picLocks noChangeAspect="1"/>
          </p:cNvPicPr>
          <p:nvPr/>
        </p:nvPicPr>
        <p:blipFill>
          <a:blip r:embed="rId2"/>
          <a:stretch>
            <a:fillRect/>
          </a:stretch>
        </p:blipFill>
        <p:spPr>
          <a:xfrm>
            <a:off x="-82108" y="7239903"/>
            <a:ext cx="1787741" cy="593884"/>
          </a:xfrm>
          <a:prstGeom prst="rect">
            <a:avLst/>
          </a:prstGeom>
        </p:spPr>
      </p:pic>
      <p:sp>
        <p:nvSpPr>
          <p:cNvPr id="15" name="正方形/長方形 14">
            <a:extLst>
              <a:ext uri="{FF2B5EF4-FFF2-40B4-BE49-F238E27FC236}">
                <a16:creationId xmlns:a16="http://schemas.microsoft.com/office/drawing/2014/main" id="{2CBE061F-12DD-5150-8E8B-ACB01212B34F}"/>
              </a:ext>
            </a:extLst>
          </p:cNvPr>
          <p:cNvSpPr/>
          <p:nvPr/>
        </p:nvSpPr>
        <p:spPr bwMode="auto">
          <a:xfrm>
            <a:off x="177250" y="4968130"/>
            <a:ext cx="8790616" cy="139251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984" dirty="0">
                <a:solidFill>
                  <a:srgbClr val="000000"/>
                </a:solidFill>
                <a:latin typeface="Calibri" pitchFamily="34" charset="0"/>
                <a:ea typeface="メイリオ" pitchFamily="50" charset="-128"/>
                <a:cs typeface="メイリオ" pitchFamily="50" charset="-128"/>
              </a:rPr>
              <a:t>誰が（主人公）、どこで（ステージ）、■を繰り返して（手段）、◎を達成し（小目的）最終的に</a:t>
            </a:r>
            <a:r>
              <a:rPr lang="en-US" altLang="ja-JP" sz="984" dirty="0">
                <a:solidFill>
                  <a:srgbClr val="000000"/>
                </a:solidFill>
                <a:latin typeface="Calibri" pitchFamily="34" charset="0"/>
                <a:ea typeface="メイリオ" pitchFamily="50" charset="-128"/>
                <a:cs typeface="メイリオ" pitchFamily="50" charset="-128"/>
              </a:rPr>
              <a:t>××</a:t>
            </a:r>
            <a:r>
              <a:rPr lang="ja-JP" altLang="en-US" sz="984" dirty="0">
                <a:solidFill>
                  <a:srgbClr val="000000"/>
                </a:solidFill>
                <a:latin typeface="Calibri" pitchFamily="34" charset="0"/>
                <a:ea typeface="メイリオ" pitchFamily="50" charset="-128"/>
                <a:cs typeface="メイリオ" pitchFamily="50" charset="-128"/>
              </a:rPr>
              <a:t>する（大目的）、ジャンルゲーム</a:t>
            </a:r>
            <a:endParaRPr lang="en-US" altLang="ja-JP" sz="984" dirty="0">
              <a:solidFill>
                <a:srgbClr val="000000"/>
              </a:solidFill>
              <a:latin typeface="Calibri" pitchFamily="34" charset="0"/>
              <a:ea typeface="メイリオ" pitchFamily="50" charset="-128"/>
              <a:cs typeface="メイリオ" pitchFamily="50" charset="-128"/>
            </a:endParaRPr>
          </a:p>
          <a:p>
            <a:endParaRPr lang="ja-JP" altLang="en-US" sz="773" i="1" dirty="0">
              <a:solidFill>
                <a:srgbClr val="000000"/>
              </a:solidFill>
              <a:latin typeface="Calibri" pitchFamily="34" charset="0"/>
              <a:ea typeface="メイリオ" pitchFamily="50" charset="-128"/>
              <a:cs typeface="メイリオ" pitchFamily="50" charset="-128"/>
            </a:endParaRPr>
          </a:p>
        </p:txBody>
      </p:sp>
      <p:sp>
        <p:nvSpPr>
          <p:cNvPr id="16" name="四角形: 角を丸くする 1">
            <a:extLst>
              <a:ext uri="{FF2B5EF4-FFF2-40B4-BE49-F238E27FC236}">
                <a16:creationId xmlns:a16="http://schemas.microsoft.com/office/drawing/2014/main" id="{D17AD49A-211D-331F-EF0A-A257723A2F4D}"/>
              </a:ext>
            </a:extLst>
          </p:cNvPr>
          <p:cNvSpPr/>
          <p:nvPr/>
        </p:nvSpPr>
        <p:spPr bwMode="auto">
          <a:xfrm>
            <a:off x="65875" y="977834"/>
            <a:ext cx="1215283" cy="702241"/>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タイトル</a:t>
            </a:r>
          </a:p>
        </p:txBody>
      </p:sp>
      <p:sp>
        <p:nvSpPr>
          <p:cNvPr id="17" name="四角形: 角を丸くする 10">
            <a:extLst>
              <a:ext uri="{FF2B5EF4-FFF2-40B4-BE49-F238E27FC236}">
                <a16:creationId xmlns:a16="http://schemas.microsoft.com/office/drawing/2014/main" id="{4DE40F59-B40B-776A-D76D-25B262D6435E}"/>
              </a:ext>
            </a:extLst>
          </p:cNvPr>
          <p:cNvSpPr/>
          <p:nvPr/>
        </p:nvSpPr>
        <p:spPr bwMode="auto">
          <a:xfrm>
            <a:off x="1389846" y="963666"/>
            <a:ext cx="6826918" cy="702241"/>
          </a:xfrm>
          <a:prstGeom prst="roundRect">
            <a:avLst/>
          </a:prstGeom>
          <a:solidFill>
            <a:schemeClr val="bg1">
              <a:lumMod val="85000"/>
            </a:schemeClr>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r>
              <a:rPr lang="ja-JP" altLang="en-US" sz="1266" dirty="0">
                <a:solidFill>
                  <a:schemeClr val="tx1"/>
                </a:solidFill>
                <a:latin typeface="HGS創英角ｺﾞｼｯｸUB" panose="020B0900000000000000" pitchFamily="50" charset="-128"/>
                <a:ea typeface="HGS創英角ｺﾞｼｯｸUB" panose="020B0900000000000000" pitchFamily="50" charset="-128"/>
              </a:rPr>
              <a:t>スーパーマリオブラザーズ</a:t>
            </a:r>
          </a:p>
        </p:txBody>
      </p:sp>
      <p:sp>
        <p:nvSpPr>
          <p:cNvPr id="18" name="矢印: 下 4">
            <a:extLst>
              <a:ext uri="{FF2B5EF4-FFF2-40B4-BE49-F238E27FC236}">
                <a16:creationId xmlns:a16="http://schemas.microsoft.com/office/drawing/2014/main" id="{EA8502D3-3292-0D57-5463-AF991D857D01}"/>
              </a:ext>
            </a:extLst>
          </p:cNvPr>
          <p:cNvSpPr/>
          <p:nvPr/>
        </p:nvSpPr>
        <p:spPr bwMode="auto">
          <a:xfrm>
            <a:off x="3274267" y="4210361"/>
            <a:ext cx="2595466" cy="703117"/>
          </a:xfrm>
          <a:prstGeom prst="downArrow">
            <a:avLst>
              <a:gd name="adj1" fmla="val 68072"/>
              <a:gd name="adj2" fmla="val 35387"/>
            </a:avLst>
          </a:prstGeom>
          <a:solidFill>
            <a:srgbClr val="FF00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19" name="四角形: 角を丸くする 20">
            <a:extLst>
              <a:ext uri="{FF2B5EF4-FFF2-40B4-BE49-F238E27FC236}">
                <a16:creationId xmlns:a16="http://schemas.microsoft.com/office/drawing/2014/main" id="{7670A9B2-CC48-7C4D-4721-6D58E55355C4}"/>
              </a:ext>
            </a:extLst>
          </p:cNvPr>
          <p:cNvSpPr/>
          <p:nvPr/>
        </p:nvSpPr>
        <p:spPr bwMode="auto">
          <a:xfrm>
            <a:off x="167156" y="4417927"/>
            <a:ext cx="3230662" cy="506368"/>
          </a:xfrm>
          <a:prstGeom prst="roundRect">
            <a:avLst/>
          </a:prstGeom>
          <a:solidFill>
            <a:schemeClr val="tx1"/>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chemeClr val="bg1"/>
                </a:solidFill>
                <a:latin typeface="HGS創英角ｺﾞｼｯｸUB" panose="020B0900000000000000" pitchFamily="50" charset="-128"/>
                <a:ea typeface="HGS創英角ｺﾞｼｯｸUB" panose="020B0900000000000000" pitchFamily="50" charset="-128"/>
                <a:cs typeface="メイリオ" pitchFamily="50" charset="-128"/>
              </a:rPr>
              <a:t>ゲーム概要</a:t>
            </a:r>
          </a:p>
        </p:txBody>
      </p:sp>
      <p:sp>
        <p:nvSpPr>
          <p:cNvPr id="20" name="正方形/長方形 19">
            <a:extLst>
              <a:ext uri="{FF2B5EF4-FFF2-40B4-BE49-F238E27FC236}">
                <a16:creationId xmlns:a16="http://schemas.microsoft.com/office/drawing/2014/main" id="{5D2DD568-A08B-76FF-DAFF-A86259895F29}"/>
              </a:ext>
            </a:extLst>
          </p:cNvPr>
          <p:cNvSpPr/>
          <p:nvPr/>
        </p:nvSpPr>
        <p:spPr bwMode="auto">
          <a:xfrm>
            <a:off x="65883"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1" name="四角形: 角を丸くする 32">
            <a:extLst>
              <a:ext uri="{FF2B5EF4-FFF2-40B4-BE49-F238E27FC236}">
                <a16:creationId xmlns:a16="http://schemas.microsoft.com/office/drawing/2014/main" id="{EFEF3D58-0FA7-1340-6795-E14FADB7052F}"/>
              </a:ext>
            </a:extLst>
          </p:cNvPr>
          <p:cNvSpPr/>
          <p:nvPr/>
        </p:nvSpPr>
        <p:spPr bwMode="auto">
          <a:xfrm>
            <a:off x="65883"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主人公</a:t>
            </a:r>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2" name="正方形/長方形 21">
            <a:extLst>
              <a:ext uri="{FF2B5EF4-FFF2-40B4-BE49-F238E27FC236}">
                <a16:creationId xmlns:a16="http://schemas.microsoft.com/office/drawing/2014/main" id="{B36E21F5-6A12-FD69-C78B-6C9CE4A20D2E}"/>
              </a:ext>
            </a:extLst>
          </p:cNvPr>
          <p:cNvSpPr/>
          <p:nvPr/>
        </p:nvSpPr>
        <p:spPr bwMode="auto">
          <a:xfrm>
            <a:off x="3104091"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3" name="四角形: 角を丸くする 34">
            <a:extLst>
              <a:ext uri="{FF2B5EF4-FFF2-40B4-BE49-F238E27FC236}">
                <a16:creationId xmlns:a16="http://schemas.microsoft.com/office/drawing/2014/main" id="{F75B0448-4FE9-56A6-280D-17521D2727FF}"/>
              </a:ext>
            </a:extLst>
          </p:cNvPr>
          <p:cNvSpPr/>
          <p:nvPr/>
        </p:nvSpPr>
        <p:spPr bwMode="auto">
          <a:xfrm>
            <a:off x="3104091"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繰り返す</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手段</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4" name="正方形/長方形 23">
            <a:extLst>
              <a:ext uri="{FF2B5EF4-FFF2-40B4-BE49-F238E27FC236}">
                <a16:creationId xmlns:a16="http://schemas.microsoft.com/office/drawing/2014/main" id="{8EF817DA-E882-3F85-858A-68B46EC020BA}"/>
              </a:ext>
            </a:extLst>
          </p:cNvPr>
          <p:cNvSpPr/>
          <p:nvPr/>
        </p:nvSpPr>
        <p:spPr bwMode="auto">
          <a:xfrm>
            <a:off x="6142300"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5" name="四角形: 角を丸くする 36">
            <a:extLst>
              <a:ext uri="{FF2B5EF4-FFF2-40B4-BE49-F238E27FC236}">
                <a16:creationId xmlns:a16="http://schemas.microsoft.com/office/drawing/2014/main" id="{3007B8D4-1C53-4483-CEA6-1E367A65E7EB}"/>
              </a:ext>
            </a:extLst>
          </p:cNvPr>
          <p:cNvSpPr/>
          <p:nvPr/>
        </p:nvSpPr>
        <p:spPr bwMode="auto">
          <a:xfrm>
            <a:off x="6142300"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小目的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8" name="正方形/長方形 27">
            <a:extLst>
              <a:ext uri="{FF2B5EF4-FFF2-40B4-BE49-F238E27FC236}">
                <a16:creationId xmlns:a16="http://schemas.microsoft.com/office/drawing/2014/main" id="{421DAFFA-F522-8537-6A97-B4AB5156C89C}"/>
              </a:ext>
            </a:extLst>
          </p:cNvPr>
          <p:cNvSpPr/>
          <p:nvPr/>
        </p:nvSpPr>
        <p:spPr bwMode="auto">
          <a:xfrm>
            <a:off x="65883"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9" name="四角形: 角を丸くする 23">
            <a:extLst>
              <a:ext uri="{FF2B5EF4-FFF2-40B4-BE49-F238E27FC236}">
                <a16:creationId xmlns:a16="http://schemas.microsoft.com/office/drawing/2014/main" id="{1DD5F331-A470-B9BE-E7F7-D39D6D73A5EE}"/>
              </a:ext>
            </a:extLst>
          </p:cNvPr>
          <p:cNvSpPr/>
          <p:nvPr/>
        </p:nvSpPr>
        <p:spPr bwMode="auto">
          <a:xfrm>
            <a:off x="65883"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ステージ・フィールド</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0" name="正方形/長方形 29">
            <a:extLst>
              <a:ext uri="{FF2B5EF4-FFF2-40B4-BE49-F238E27FC236}">
                <a16:creationId xmlns:a16="http://schemas.microsoft.com/office/drawing/2014/main" id="{16E0C100-FD55-69C2-F4C8-FF66BC3CEC2E}"/>
              </a:ext>
            </a:extLst>
          </p:cNvPr>
          <p:cNvSpPr/>
          <p:nvPr/>
        </p:nvSpPr>
        <p:spPr bwMode="auto">
          <a:xfrm>
            <a:off x="3104091"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31" name="四角形: 角を丸くする 25">
            <a:extLst>
              <a:ext uri="{FF2B5EF4-FFF2-40B4-BE49-F238E27FC236}">
                <a16:creationId xmlns:a16="http://schemas.microsoft.com/office/drawing/2014/main" id="{47E84509-D4AF-CAA5-9474-A58B5751A04F}"/>
              </a:ext>
            </a:extLst>
          </p:cNvPr>
          <p:cNvSpPr/>
          <p:nvPr/>
        </p:nvSpPr>
        <p:spPr bwMode="auto">
          <a:xfrm>
            <a:off x="3104091"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大目的・最終目的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2" name="正方形/長方形 31">
            <a:extLst>
              <a:ext uri="{FF2B5EF4-FFF2-40B4-BE49-F238E27FC236}">
                <a16:creationId xmlns:a16="http://schemas.microsoft.com/office/drawing/2014/main" id="{1891C154-9703-A9F2-BB41-84C97026B5D6}"/>
              </a:ext>
            </a:extLst>
          </p:cNvPr>
          <p:cNvSpPr/>
          <p:nvPr/>
        </p:nvSpPr>
        <p:spPr bwMode="auto">
          <a:xfrm>
            <a:off x="6142300" y="3263802"/>
            <a:ext cx="2936935" cy="874673"/>
          </a:xfrm>
          <a:prstGeom prst="rect">
            <a:avLst/>
          </a:prstGeom>
          <a:solidFill>
            <a:schemeClr val="bg1">
              <a:lumMod val="85000"/>
            </a:schemeClr>
          </a:solid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b" anchorCtr="0" compatLnSpc="1">
            <a:prstTxWarp prst="textNoShape">
              <a:avLst/>
            </a:prstTxWarp>
          </a:bodyPr>
          <a:lstStyle/>
          <a:p>
            <a:pPr defTabSz="642979"/>
            <a:r>
              <a:rPr lang="ja-JP" altLang="en-US" sz="1687" dirty="0">
                <a:solidFill>
                  <a:srgbClr val="000000"/>
                </a:solidFill>
                <a:latin typeface="Calibri" pitchFamily="34" charset="0"/>
                <a:ea typeface="メイリオ" pitchFamily="50" charset="-128"/>
                <a:cs typeface="メイリオ" pitchFamily="50" charset="-128"/>
              </a:rPr>
              <a:t>横スクロール</a:t>
            </a:r>
            <a:endParaRPr lang="en-US" altLang="ja-JP" sz="1687" dirty="0">
              <a:solidFill>
                <a:srgbClr val="000000"/>
              </a:solidFill>
              <a:latin typeface="Calibri" pitchFamily="34" charset="0"/>
              <a:ea typeface="メイリオ" pitchFamily="50" charset="-128"/>
              <a:cs typeface="メイリオ" pitchFamily="50" charset="-128"/>
            </a:endParaRPr>
          </a:p>
          <a:p>
            <a:pPr defTabSz="642979"/>
            <a:r>
              <a:rPr lang="en-US" altLang="ja-JP" sz="1687" dirty="0">
                <a:solidFill>
                  <a:srgbClr val="000000"/>
                </a:solidFill>
                <a:latin typeface="Calibri" pitchFamily="34" charset="0"/>
                <a:ea typeface="メイリオ" pitchFamily="50" charset="-128"/>
                <a:cs typeface="メイリオ" pitchFamily="50" charset="-128"/>
              </a:rPr>
              <a:t>2D</a:t>
            </a:r>
            <a:r>
              <a:rPr lang="ja-JP" altLang="en-US" sz="1687" dirty="0">
                <a:solidFill>
                  <a:srgbClr val="000000"/>
                </a:solidFill>
                <a:latin typeface="Calibri" pitchFamily="34" charset="0"/>
                <a:ea typeface="メイリオ" pitchFamily="50" charset="-128"/>
                <a:cs typeface="メイリオ" pitchFamily="50" charset="-128"/>
              </a:rPr>
              <a:t>アクションゲーム</a:t>
            </a:r>
          </a:p>
        </p:txBody>
      </p:sp>
      <p:sp>
        <p:nvSpPr>
          <p:cNvPr id="33" name="四角形: 角を丸くする 27">
            <a:extLst>
              <a:ext uri="{FF2B5EF4-FFF2-40B4-BE49-F238E27FC236}">
                <a16:creationId xmlns:a16="http://schemas.microsoft.com/office/drawing/2014/main" id="{21812A83-8187-F208-037E-E85770CF0317}"/>
              </a:ext>
            </a:extLst>
          </p:cNvPr>
          <p:cNvSpPr/>
          <p:nvPr/>
        </p:nvSpPr>
        <p:spPr bwMode="auto">
          <a:xfrm>
            <a:off x="6142300"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どんな</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ジャンル</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のゲーム？</a:t>
            </a:r>
          </a:p>
        </p:txBody>
      </p:sp>
      <p:sp>
        <p:nvSpPr>
          <p:cNvPr id="3" name="吹き出し: 角を丸めた四角形 2">
            <a:extLst>
              <a:ext uri="{FF2B5EF4-FFF2-40B4-BE49-F238E27FC236}">
                <a16:creationId xmlns:a16="http://schemas.microsoft.com/office/drawing/2014/main" id="{96222ECA-028F-D820-38EE-4C41622CC33B}"/>
              </a:ext>
            </a:extLst>
          </p:cNvPr>
          <p:cNvSpPr/>
          <p:nvPr/>
        </p:nvSpPr>
        <p:spPr bwMode="auto">
          <a:xfrm>
            <a:off x="5832719" y="4308336"/>
            <a:ext cx="3230662" cy="491839"/>
          </a:xfrm>
          <a:prstGeom prst="wedgeRoundRectCallout">
            <a:avLst>
              <a:gd name="adj1" fmla="val 12150"/>
              <a:gd name="adj2" fmla="val 80937"/>
              <a:gd name="adj3" fmla="val 16667"/>
            </a:avLst>
          </a:prstGeom>
          <a:solidFill>
            <a:srgbClr val="00FF00"/>
          </a:solidFill>
          <a:ln>
            <a:solidFill>
              <a:srgbClr val="DC0451"/>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225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この文法 必ず守ること！</a:t>
            </a:r>
          </a:p>
        </p:txBody>
      </p:sp>
      <p:sp>
        <p:nvSpPr>
          <p:cNvPr id="2" name="額縁 5">
            <a:extLst>
              <a:ext uri="{FF2B5EF4-FFF2-40B4-BE49-F238E27FC236}">
                <a16:creationId xmlns:a16="http://schemas.microsoft.com/office/drawing/2014/main" id="{C7FE50C9-CEB2-7AC5-68A9-61DC1D6C87E0}"/>
              </a:ext>
            </a:extLst>
          </p:cNvPr>
          <p:cNvSpPr/>
          <p:nvPr/>
        </p:nvSpPr>
        <p:spPr bwMode="auto">
          <a:xfrm>
            <a:off x="65875" y="289901"/>
            <a:ext cx="5619999" cy="506306"/>
          </a:xfrm>
          <a:prstGeom prst="bevel">
            <a:avLst/>
          </a:prstGeom>
          <a:solidFill>
            <a:srgbClr val="006600"/>
          </a:solidFill>
          <a:ln>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2250" dirty="0">
                <a:solidFill>
                  <a:schemeClr val="bg1"/>
                </a:solidFill>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ゲーム概要　作成シート　サンプル</a:t>
            </a:r>
          </a:p>
        </p:txBody>
      </p:sp>
      <p:pic>
        <p:nvPicPr>
          <p:cNvPr id="7" name="図 6" descr="カレンダー が含まれている画像&#10;&#10;自動的に生成された説明">
            <a:extLst>
              <a:ext uri="{FF2B5EF4-FFF2-40B4-BE49-F238E27FC236}">
                <a16:creationId xmlns:a16="http://schemas.microsoft.com/office/drawing/2014/main" id="{8876C835-4E1C-2B76-0D1C-C7863550E6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8464" y="370256"/>
            <a:ext cx="1870142" cy="1325623"/>
          </a:xfrm>
          <a:prstGeom prst="rect">
            <a:avLst/>
          </a:prstGeom>
        </p:spPr>
      </p:pic>
      <p:sp>
        <p:nvSpPr>
          <p:cNvPr id="4" name="テキスト ボックス 3">
            <a:extLst>
              <a:ext uri="{FF2B5EF4-FFF2-40B4-BE49-F238E27FC236}">
                <a16:creationId xmlns:a16="http://schemas.microsoft.com/office/drawing/2014/main" id="{93ABDD51-E08A-205E-0CA6-BD328DAED6FB}"/>
              </a:ext>
            </a:extLst>
          </p:cNvPr>
          <p:cNvSpPr txBox="1"/>
          <p:nvPr/>
        </p:nvSpPr>
        <p:spPr>
          <a:xfrm>
            <a:off x="567739" y="2469524"/>
            <a:ext cx="1980029" cy="308674"/>
          </a:xfrm>
          <a:prstGeom prst="rect">
            <a:avLst/>
          </a:prstGeom>
          <a:noFill/>
        </p:spPr>
        <p:txBody>
          <a:bodyPr wrap="none" rtlCol="0">
            <a:spAutoFit/>
          </a:bodyPr>
          <a:lstStyle/>
          <a:p>
            <a:r>
              <a:rPr kumimoji="1" lang="ja-JP" altLang="en-US" sz="1406" dirty="0">
                <a:highlight>
                  <a:srgbClr val="FF0000"/>
                </a:highlight>
              </a:rPr>
              <a:t>マリオ（プレイヤー）</a:t>
            </a:r>
          </a:p>
        </p:txBody>
      </p:sp>
      <p:sp>
        <p:nvSpPr>
          <p:cNvPr id="5" name="テキスト ボックス 4">
            <a:extLst>
              <a:ext uri="{FF2B5EF4-FFF2-40B4-BE49-F238E27FC236}">
                <a16:creationId xmlns:a16="http://schemas.microsoft.com/office/drawing/2014/main" id="{82C53EE1-B02A-7D4E-53CA-A5F228A423F0}"/>
              </a:ext>
            </a:extLst>
          </p:cNvPr>
          <p:cNvSpPr txBox="1"/>
          <p:nvPr/>
        </p:nvSpPr>
        <p:spPr>
          <a:xfrm>
            <a:off x="3504674" y="2522338"/>
            <a:ext cx="2159566" cy="308674"/>
          </a:xfrm>
          <a:prstGeom prst="rect">
            <a:avLst/>
          </a:prstGeom>
          <a:noFill/>
        </p:spPr>
        <p:txBody>
          <a:bodyPr wrap="none" rtlCol="0">
            <a:spAutoFit/>
          </a:bodyPr>
          <a:lstStyle/>
          <a:p>
            <a:r>
              <a:rPr kumimoji="1" lang="ja-JP" altLang="en-US" sz="1406" dirty="0">
                <a:highlight>
                  <a:srgbClr val="00FF00"/>
                </a:highlight>
              </a:rPr>
              <a:t>移動・ジャンプ（攻撃）</a:t>
            </a:r>
          </a:p>
        </p:txBody>
      </p:sp>
      <p:sp>
        <p:nvSpPr>
          <p:cNvPr id="6" name="テキスト ボックス 5">
            <a:extLst>
              <a:ext uri="{FF2B5EF4-FFF2-40B4-BE49-F238E27FC236}">
                <a16:creationId xmlns:a16="http://schemas.microsoft.com/office/drawing/2014/main" id="{BCA05BD1-A2BD-51BB-FE8E-3F3B34587641}"/>
              </a:ext>
            </a:extLst>
          </p:cNvPr>
          <p:cNvSpPr txBox="1"/>
          <p:nvPr/>
        </p:nvSpPr>
        <p:spPr>
          <a:xfrm>
            <a:off x="6282365" y="2522338"/>
            <a:ext cx="2698175" cy="308674"/>
          </a:xfrm>
          <a:prstGeom prst="rect">
            <a:avLst/>
          </a:prstGeom>
          <a:noFill/>
        </p:spPr>
        <p:txBody>
          <a:bodyPr wrap="none" rtlCol="0">
            <a:spAutoFit/>
          </a:bodyPr>
          <a:lstStyle/>
          <a:p>
            <a:r>
              <a:rPr kumimoji="1" lang="ja-JP" altLang="en-US" sz="1406" dirty="0">
                <a:highlight>
                  <a:srgbClr val="FF00FF"/>
                </a:highlight>
              </a:rPr>
              <a:t>画面右端にあるゴールを目指す</a:t>
            </a:r>
          </a:p>
        </p:txBody>
      </p:sp>
      <p:sp>
        <p:nvSpPr>
          <p:cNvPr id="8" name="テキスト ボックス 7">
            <a:extLst>
              <a:ext uri="{FF2B5EF4-FFF2-40B4-BE49-F238E27FC236}">
                <a16:creationId xmlns:a16="http://schemas.microsoft.com/office/drawing/2014/main" id="{A7FFD868-26FD-8ECF-F834-48324BAB30E7}"/>
              </a:ext>
            </a:extLst>
          </p:cNvPr>
          <p:cNvSpPr txBox="1"/>
          <p:nvPr/>
        </p:nvSpPr>
        <p:spPr>
          <a:xfrm>
            <a:off x="170995" y="3649262"/>
            <a:ext cx="2781531" cy="265457"/>
          </a:xfrm>
          <a:prstGeom prst="rect">
            <a:avLst/>
          </a:prstGeom>
          <a:noFill/>
        </p:spPr>
        <p:txBody>
          <a:bodyPr wrap="none" rtlCol="0">
            <a:spAutoFit/>
          </a:bodyPr>
          <a:lstStyle/>
          <a:p>
            <a:r>
              <a:rPr kumimoji="1" lang="ja-JP" altLang="en-US" sz="1125" dirty="0">
                <a:highlight>
                  <a:srgbClr val="FFCCCC"/>
                </a:highlight>
              </a:rPr>
              <a:t>時間制限のある八ワールド・四ステージ</a:t>
            </a:r>
          </a:p>
        </p:txBody>
      </p:sp>
      <p:sp>
        <p:nvSpPr>
          <p:cNvPr id="9" name="テキスト ボックス 8">
            <a:extLst>
              <a:ext uri="{FF2B5EF4-FFF2-40B4-BE49-F238E27FC236}">
                <a16:creationId xmlns:a16="http://schemas.microsoft.com/office/drawing/2014/main" id="{049F455F-5B76-A75C-F9E5-F2DF51FCFCD4}"/>
              </a:ext>
            </a:extLst>
          </p:cNvPr>
          <p:cNvSpPr txBox="1"/>
          <p:nvPr/>
        </p:nvSpPr>
        <p:spPr>
          <a:xfrm>
            <a:off x="3141142" y="3629507"/>
            <a:ext cx="2925801" cy="265457"/>
          </a:xfrm>
          <a:prstGeom prst="rect">
            <a:avLst/>
          </a:prstGeom>
          <a:noFill/>
        </p:spPr>
        <p:txBody>
          <a:bodyPr wrap="none" rtlCol="0">
            <a:spAutoFit/>
          </a:bodyPr>
          <a:lstStyle/>
          <a:p>
            <a:r>
              <a:rPr kumimoji="1" lang="ja-JP" altLang="en-US" sz="1125" dirty="0">
                <a:highlight>
                  <a:srgbClr val="FFFF00"/>
                </a:highlight>
              </a:rPr>
              <a:t>全ステージをクリアし、ピーチ姫を助ける</a:t>
            </a:r>
          </a:p>
        </p:txBody>
      </p:sp>
      <p:sp>
        <p:nvSpPr>
          <p:cNvPr id="10" name="テキスト ボックス 9">
            <a:extLst>
              <a:ext uri="{FF2B5EF4-FFF2-40B4-BE49-F238E27FC236}">
                <a16:creationId xmlns:a16="http://schemas.microsoft.com/office/drawing/2014/main" id="{BC4940B2-1C90-12A7-C9AA-A8D89CBFC286}"/>
              </a:ext>
            </a:extLst>
          </p:cNvPr>
          <p:cNvSpPr txBox="1"/>
          <p:nvPr/>
        </p:nvSpPr>
        <p:spPr>
          <a:xfrm>
            <a:off x="543996" y="5387288"/>
            <a:ext cx="8250977" cy="871201"/>
          </a:xfrm>
          <a:prstGeom prst="rect">
            <a:avLst/>
          </a:prstGeom>
          <a:noFill/>
        </p:spPr>
        <p:txBody>
          <a:bodyPr wrap="none" rtlCol="0">
            <a:spAutoFit/>
          </a:bodyPr>
          <a:lstStyle/>
          <a:p>
            <a:r>
              <a:rPr kumimoji="1" lang="ja-JP" altLang="en-US" sz="1687" dirty="0">
                <a:highlight>
                  <a:srgbClr val="FF0000"/>
                </a:highlight>
              </a:rPr>
              <a:t>マリオ</a:t>
            </a:r>
            <a:r>
              <a:rPr kumimoji="1" lang="ja-JP" altLang="en-US" sz="1687" dirty="0"/>
              <a:t>が</a:t>
            </a:r>
            <a:r>
              <a:rPr kumimoji="1" lang="ja-JP" altLang="en-US" sz="1687" dirty="0">
                <a:highlight>
                  <a:srgbClr val="FFCCCC"/>
                </a:highlight>
              </a:rPr>
              <a:t>全</a:t>
            </a:r>
            <a:r>
              <a:rPr kumimoji="1" lang="en-US" altLang="ja-JP" sz="1687" dirty="0">
                <a:highlight>
                  <a:srgbClr val="FFCCCC"/>
                </a:highlight>
              </a:rPr>
              <a:t>32</a:t>
            </a:r>
            <a:r>
              <a:rPr kumimoji="1" lang="ja-JP" altLang="en-US" sz="1687" dirty="0">
                <a:highlight>
                  <a:srgbClr val="FFCCCC"/>
                </a:highlight>
              </a:rPr>
              <a:t>ステージ</a:t>
            </a:r>
            <a:r>
              <a:rPr kumimoji="1" lang="ja-JP" altLang="en-US" sz="1687" dirty="0"/>
              <a:t>を</a:t>
            </a:r>
            <a:r>
              <a:rPr kumimoji="1" lang="ja-JP" altLang="en-US" sz="1687" dirty="0">
                <a:highlight>
                  <a:srgbClr val="00FF00"/>
                </a:highlight>
              </a:rPr>
              <a:t>「水平移動・ジャンプ」時に「攻撃」</a:t>
            </a:r>
            <a:r>
              <a:rPr kumimoji="1" lang="ja-JP" altLang="en-US" sz="1687" dirty="0"/>
              <a:t>を繰り返して</a:t>
            </a:r>
            <a:endParaRPr kumimoji="1" lang="en-US" altLang="ja-JP" sz="1687" dirty="0"/>
          </a:p>
          <a:p>
            <a:endParaRPr kumimoji="1" lang="en-US" altLang="ja-JP" sz="1687" dirty="0"/>
          </a:p>
          <a:p>
            <a:r>
              <a:rPr kumimoji="1" lang="ja-JP" altLang="en-US" sz="1687" dirty="0">
                <a:highlight>
                  <a:srgbClr val="FF00FF"/>
                </a:highlight>
              </a:rPr>
              <a:t>ゴールを達成</a:t>
            </a:r>
            <a:r>
              <a:rPr kumimoji="1" lang="ja-JP" altLang="en-US" sz="1687" dirty="0"/>
              <a:t>し最終的に</a:t>
            </a:r>
            <a:r>
              <a:rPr kumimoji="1" lang="ja-JP" altLang="en-US" sz="1687" dirty="0">
                <a:highlight>
                  <a:srgbClr val="FFFF00"/>
                </a:highlight>
              </a:rPr>
              <a:t>全ステージをクリア</a:t>
            </a:r>
            <a:r>
              <a:rPr kumimoji="1" lang="ja-JP" altLang="en-US" sz="1687" dirty="0"/>
              <a:t>する</a:t>
            </a:r>
            <a:r>
              <a:rPr kumimoji="1" lang="ja-JP" altLang="en-US" sz="1687" dirty="0">
                <a:highlight>
                  <a:srgbClr val="C0C0C0"/>
                </a:highlight>
              </a:rPr>
              <a:t>横スクロール</a:t>
            </a:r>
            <a:r>
              <a:rPr kumimoji="1" lang="en-US" altLang="ja-JP" sz="1687" dirty="0">
                <a:highlight>
                  <a:srgbClr val="C0C0C0"/>
                </a:highlight>
              </a:rPr>
              <a:t>2D</a:t>
            </a:r>
            <a:r>
              <a:rPr kumimoji="1" lang="ja-JP" altLang="en-US" sz="1687" dirty="0">
                <a:highlight>
                  <a:srgbClr val="C0C0C0"/>
                </a:highlight>
              </a:rPr>
              <a:t>アクションゲーム</a:t>
            </a:r>
            <a:endParaRPr kumimoji="1" lang="en-US" altLang="ja-JP" sz="1687" dirty="0">
              <a:highlight>
                <a:srgbClr val="C0C0C0"/>
              </a:highlight>
            </a:endParaRPr>
          </a:p>
        </p:txBody>
      </p:sp>
    </p:spTree>
    <p:extLst>
      <p:ext uri="{BB962C8B-B14F-4D97-AF65-F5344CB8AC3E}">
        <p14:creationId xmlns:p14="http://schemas.microsoft.com/office/powerpoint/2010/main" val="2483214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図 108">
            <a:extLst>
              <a:ext uri="{FF2B5EF4-FFF2-40B4-BE49-F238E27FC236}">
                <a16:creationId xmlns:a16="http://schemas.microsoft.com/office/drawing/2014/main" id="{0D62C35F-9A22-F8BC-4748-1BCFAC75317F}"/>
              </a:ext>
            </a:extLst>
          </p:cNvPr>
          <p:cNvPicPr>
            <a:picLocks noChangeAspect="1"/>
          </p:cNvPicPr>
          <p:nvPr/>
        </p:nvPicPr>
        <p:blipFill>
          <a:blip r:embed="rId2"/>
          <a:stretch>
            <a:fillRect/>
          </a:stretch>
        </p:blipFill>
        <p:spPr>
          <a:xfrm>
            <a:off x="-82108" y="7239903"/>
            <a:ext cx="1787741" cy="593884"/>
          </a:xfrm>
          <a:prstGeom prst="rect">
            <a:avLst/>
          </a:prstGeom>
        </p:spPr>
      </p:pic>
      <p:sp>
        <p:nvSpPr>
          <p:cNvPr id="15" name="正方形/長方形 14">
            <a:extLst>
              <a:ext uri="{FF2B5EF4-FFF2-40B4-BE49-F238E27FC236}">
                <a16:creationId xmlns:a16="http://schemas.microsoft.com/office/drawing/2014/main" id="{2CBE061F-12DD-5150-8E8B-ACB01212B34F}"/>
              </a:ext>
            </a:extLst>
          </p:cNvPr>
          <p:cNvSpPr/>
          <p:nvPr/>
        </p:nvSpPr>
        <p:spPr bwMode="auto">
          <a:xfrm>
            <a:off x="177250" y="4968130"/>
            <a:ext cx="8790616" cy="139251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984" dirty="0">
                <a:solidFill>
                  <a:srgbClr val="000000"/>
                </a:solidFill>
                <a:latin typeface="Calibri" pitchFamily="34" charset="0"/>
                <a:ea typeface="メイリオ" pitchFamily="50" charset="-128"/>
                <a:cs typeface="メイリオ" pitchFamily="50" charset="-128"/>
              </a:rPr>
              <a:t>誰が（主人公）、どこで（ステージ）、■を繰り返して（手段）、◎を達成し（小目的）最終的に</a:t>
            </a:r>
            <a:r>
              <a:rPr lang="en-US" altLang="ja-JP" sz="984" dirty="0">
                <a:solidFill>
                  <a:srgbClr val="000000"/>
                </a:solidFill>
                <a:latin typeface="Calibri" pitchFamily="34" charset="0"/>
                <a:ea typeface="メイリオ" pitchFamily="50" charset="-128"/>
                <a:cs typeface="メイリオ" pitchFamily="50" charset="-128"/>
              </a:rPr>
              <a:t>××</a:t>
            </a:r>
            <a:r>
              <a:rPr lang="ja-JP" altLang="en-US" sz="984" dirty="0">
                <a:solidFill>
                  <a:srgbClr val="000000"/>
                </a:solidFill>
                <a:latin typeface="Calibri" pitchFamily="34" charset="0"/>
                <a:ea typeface="メイリオ" pitchFamily="50" charset="-128"/>
                <a:cs typeface="メイリオ" pitchFamily="50" charset="-128"/>
              </a:rPr>
              <a:t>する（大目的）、ジャンルゲーム</a:t>
            </a:r>
            <a:br>
              <a:rPr lang="en-US" altLang="ja-JP" sz="984" dirty="0">
                <a:solidFill>
                  <a:srgbClr val="000000"/>
                </a:solidFill>
                <a:latin typeface="Calibri" pitchFamily="34" charset="0"/>
                <a:ea typeface="メイリオ" pitchFamily="50" charset="-128"/>
                <a:cs typeface="メイリオ" pitchFamily="50" charset="-128"/>
              </a:rPr>
            </a:br>
            <a:r>
              <a:rPr lang="ja-JP" altLang="en-US" sz="984" dirty="0">
                <a:solidFill>
                  <a:srgbClr val="000000"/>
                </a:solidFill>
                <a:latin typeface="Calibri" pitchFamily="34" charset="0"/>
                <a:ea typeface="メイリオ" pitchFamily="50" charset="-128"/>
                <a:cs typeface="メイリオ" pitchFamily="50" charset="-128"/>
              </a:rPr>
              <a:t>例）ぽっちゃりアマゾネスの国に漂流した、糖尿病の男性が、彼を振り向かせたいアマゾネスたちが、我さきにマンジャロを使うのを止めて生き延びて結婚までこぎつけるスゴロクゲーム</a:t>
            </a:r>
            <a:endParaRPr lang="ja-JP" altLang="en-US" sz="773" i="1" dirty="0">
              <a:solidFill>
                <a:srgbClr val="000000"/>
              </a:solidFill>
              <a:latin typeface="Calibri" pitchFamily="34" charset="0"/>
              <a:ea typeface="メイリオ" pitchFamily="50" charset="-128"/>
              <a:cs typeface="メイリオ" pitchFamily="50" charset="-128"/>
            </a:endParaRPr>
          </a:p>
        </p:txBody>
      </p:sp>
      <p:sp>
        <p:nvSpPr>
          <p:cNvPr id="16" name="四角形: 角を丸くする 1">
            <a:extLst>
              <a:ext uri="{FF2B5EF4-FFF2-40B4-BE49-F238E27FC236}">
                <a16:creationId xmlns:a16="http://schemas.microsoft.com/office/drawing/2014/main" id="{D17AD49A-211D-331F-EF0A-A257723A2F4D}"/>
              </a:ext>
            </a:extLst>
          </p:cNvPr>
          <p:cNvSpPr/>
          <p:nvPr/>
        </p:nvSpPr>
        <p:spPr bwMode="auto">
          <a:xfrm>
            <a:off x="65875" y="977834"/>
            <a:ext cx="1215283" cy="702241"/>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タイトル</a:t>
            </a:r>
          </a:p>
        </p:txBody>
      </p:sp>
      <p:sp>
        <p:nvSpPr>
          <p:cNvPr id="17" name="四角形: 角を丸くする 10">
            <a:extLst>
              <a:ext uri="{FF2B5EF4-FFF2-40B4-BE49-F238E27FC236}">
                <a16:creationId xmlns:a16="http://schemas.microsoft.com/office/drawing/2014/main" id="{4DE40F59-B40B-776A-D76D-25B262D6435E}"/>
              </a:ext>
            </a:extLst>
          </p:cNvPr>
          <p:cNvSpPr/>
          <p:nvPr/>
        </p:nvSpPr>
        <p:spPr bwMode="auto">
          <a:xfrm>
            <a:off x="1389846" y="963666"/>
            <a:ext cx="6826918" cy="702241"/>
          </a:xfrm>
          <a:prstGeom prst="roundRect">
            <a:avLst/>
          </a:prstGeom>
          <a:no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endParaRPr lang="ja-JP" altLang="en-US" sz="1266" dirty="0">
              <a:solidFill>
                <a:schemeClr val="tx1"/>
              </a:solidFill>
              <a:latin typeface="HGS創英角ｺﾞｼｯｸUB" panose="020B0900000000000000" pitchFamily="50" charset="-128"/>
              <a:ea typeface="HGS創英角ｺﾞｼｯｸUB" panose="020B0900000000000000" pitchFamily="50" charset="-128"/>
            </a:endParaRPr>
          </a:p>
        </p:txBody>
      </p:sp>
      <p:sp>
        <p:nvSpPr>
          <p:cNvPr id="18" name="矢印: 下 4">
            <a:extLst>
              <a:ext uri="{FF2B5EF4-FFF2-40B4-BE49-F238E27FC236}">
                <a16:creationId xmlns:a16="http://schemas.microsoft.com/office/drawing/2014/main" id="{EA8502D3-3292-0D57-5463-AF991D857D01}"/>
              </a:ext>
            </a:extLst>
          </p:cNvPr>
          <p:cNvSpPr/>
          <p:nvPr/>
        </p:nvSpPr>
        <p:spPr bwMode="auto">
          <a:xfrm>
            <a:off x="3274267" y="4210361"/>
            <a:ext cx="2595466" cy="703117"/>
          </a:xfrm>
          <a:prstGeom prst="downArrow">
            <a:avLst>
              <a:gd name="adj1" fmla="val 68072"/>
              <a:gd name="adj2" fmla="val 35387"/>
            </a:avLst>
          </a:prstGeom>
          <a:solidFill>
            <a:srgbClr val="FF00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19" name="四角形: 角を丸くする 20">
            <a:extLst>
              <a:ext uri="{FF2B5EF4-FFF2-40B4-BE49-F238E27FC236}">
                <a16:creationId xmlns:a16="http://schemas.microsoft.com/office/drawing/2014/main" id="{7670A9B2-CC48-7C4D-4721-6D58E55355C4}"/>
              </a:ext>
            </a:extLst>
          </p:cNvPr>
          <p:cNvSpPr/>
          <p:nvPr/>
        </p:nvSpPr>
        <p:spPr bwMode="auto">
          <a:xfrm>
            <a:off x="167156" y="4417927"/>
            <a:ext cx="3230662" cy="506368"/>
          </a:xfrm>
          <a:prstGeom prst="roundRect">
            <a:avLst/>
          </a:prstGeom>
          <a:solidFill>
            <a:schemeClr val="tx1"/>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chemeClr val="bg1"/>
                </a:solidFill>
                <a:latin typeface="HGS創英角ｺﾞｼｯｸUB" panose="020B0900000000000000" pitchFamily="50" charset="-128"/>
                <a:ea typeface="HGS創英角ｺﾞｼｯｸUB" panose="020B0900000000000000" pitchFamily="50" charset="-128"/>
                <a:cs typeface="メイリオ" pitchFamily="50" charset="-128"/>
              </a:rPr>
              <a:t>ゲーム概要</a:t>
            </a:r>
          </a:p>
        </p:txBody>
      </p:sp>
      <p:sp>
        <p:nvSpPr>
          <p:cNvPr id="20" name="正方形/長方形 19">
            <a:extLst>
              <a:ext uri="{FF2B5EF4-FFF2-40B4-BE49-F238E27FC236}">
                <a16:creationId xmlns:a16="http://schemas.microsoft.com/office/drawing/2014/main" id="{5D2DD568-A08B-76FF-DAFF-A86259895F29}"/>
              </a:ext>
            </a:extLst>
          </p:cNvPr>
          <p:cNvSpPr/>
          <p:nvPr/>
        </p:nvSpPr>
        <p:spPr bwMode="auto">
          <a:xfrm>
            <a:off x="65883"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1" name="四角形: 角を丸くする 32">
            <a:extLst>
              <a:ext uri="{FF2B5EF4-FFF2-40B4-BE49-F238E27FC236}">
                <a16:creationId xmlns:a16="http://schemas.microsoft.com/office/drawing/2014/main" id="{EFEF3D58-0FA7-1340-6795-E14FADB7052F}"/>
              </a:ext>
            </a:extLst>
          </p:cNvPr>
          <p:cNvSpPr/>
          <p:nvPr/>
        </p:nvSpPr>
        <p:spPr bwMode="auto">
          <a:xfrm>
            <a:off x="65883"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主人公</a:t>
            </a:r>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2" name="正方形/長方形 21">
            <a:extLst>
              <a:ext uri="{FF2B5EF4-FFF2-40B4-BE49-F238E27FC236}">
                <a16:creationId xmlns:a16="http://schemas.microsoft.com/office/drawing/2014/main" id="{B36E21F5-6A12-FD69-C78B-6C9CE4A20D2E}"/>
              </a:ext>
            </a:extLst>
          </p:cNvPr>
          <p:cNvSpPr/>
          <p:nvPr/>
        </p:nvSpPr>
        <p:spPr bwMode="auto">
          <a:xfrm>
            <a:off x="3104091"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3" name="四角形: 角を丸くする 34">
            <a:extLst>
              <a:ext uri="{FF2B5EF4-FFF2-40B4-BE49-F238E27FC236}">
                <a16:creationId xmlns:a16="http://schemas.microsoft.com/office/drawing/2014/main" id="{F75B0448-4FE9-56A6-280D-17521D2727FF}"/>
              </a:ext>
            </a:extLst>
          </p:cNvPr>
          <p:cNvSpPr/>
          <p:nvPr/>
        </p:nvSpPr>
        <p:spPr bwMode="auto">
          <a:xfrm>
            <a:off x="3104091"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繰り返す</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手段</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4" name="正方形/長方形 23">
            <a:extLst>
              <a:ext uri="{FF2B5EF4-FFF2-40B4-BE49-F238E27FC236}">
                <a16:creationId xmlns:a16="http://schemas.microsoft.com/office/drawing/2014/main" id="{8EF817DA-E882-3F85-858A-68B46EC020BA}"/>
              </a:ext>
            </a:extLst>
          </p:cNvPr>
          <p:cNvSpPr/>
          <p:nvPr/>
        </p:nvSpPr>
        <p:spPr bwMode="auto">
          <a:xfrm>
            <a:off x="6142300"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5" name="四角形: 角を丸くする 36">
            <a:extLst>
              <a:ext uri="{FF2B5EF4-FFF2-40B4-BE49-F238E27FC236}">
                <a16:creationId xmlns:a16="http://schemas.microsoft.com/office/drawing/2014/main" id="{3007B8D4-1C53-4483-CEA6-1E367A65E7EB}"/>
              </a:ext>
            </a:extLst>
          </p:cNvPr>
          <p:cNvSpPr/>
          <p:nvPr/>
        </p:nvSpPr>
        <p:spPr bwMode="auto">
          <a:xfrm>
            <a:off x="6142300"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小目的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8" name="正方形/長方形 27">
            <a:extLst>
              <a:ext uri="{FF2B5EF4-FFF2-40B4-BE49-F238E27FC236}">
                <a16:creationId xmlns:a16="http://schemas.microsoft.com/office/drawing/2014/main" id="{421DAFFA-F522-8537-6A97-B4AB5156C89C}"/>
              </a:ext>
            </a:extLst>
          </p:cNvPr>
          <p:cNvSpPr/>
          <p:nvPr/>
        </p:nvSpPr>
        <p:spPr bwMode="auto">
          <a:xfrm>
            <a:off x="65883"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29" name="四角形: 角を丸くする 23">
            <a:extLst>
              <a:ext uri="{FF2B5EF4-FFF2-40B4-BE49-F238E27FC236}">
                <a16:creationId xmlns:a16="http://schemas.microsoft.com/office/drawing/2014/main" id="{1DD5F331-A470-B9BE-E7F7-D39D6D73A5EE}"/>
              </a:ext>
            </a:extLst>
          </p:cNvPr>
          <p:cNvSpPr/>
          <p:nvPr/>
        </p:nvSpPr>
        <p:spPr bwMode="auto">
          <a:xfrm>
            <a:off x="65883"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ステージ・フィールド</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0" name="正方形/長方形 29">
            <a:extLst>
              <a:ext uri="{FF2B5EF4-FFF2-40B4-BE49-F238E27FC236}">
                <a16:creationId xmlns:a16="http://schemas.microsoft.com/office/drawing/2014/main" id="{16E0C100-FD55-69C2-F4C8-FF66BC3CEC2E}"/>
              </a:ext>
            </a:extLst>
          </p:cNvPr>
          <p:cNvSpPr/>
          <p:nvPr/>
        </p:nvSpPr>
        <p:spPr bwMode="auto">
          <a:xfrm>
            <a:off x="3104091"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31" name="四角形: 角を丸くする 25">
            <a:extLst>
              <a:ext uri="{FF2B5EF4-FFF2-40B4-BE49-F238E27FC236}">
                <a16:creationId xmlns:a16="http://schemas.microsoft.com/office/drawing/2014/main" id="{47E84509-D4AF-CAA5-9474-A58B5751A04F}"/>
              </a:ext>
            </a:extLst>
          </p:cNvPr>
          <p:cNvSpPr/>
          <p:nvPr/>
        </p:nvSpPr>
        <p:spPr bwMode="auto">
          <a:xfrm>
            <a:off x="3104091"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大目的・最終目的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2" name="正方形/長方形 31">
            <a:extLst>
              <a:ext uri="{FF2B5EF4-FFF2-40B4-BE49-F238E27FC236}">
                <a16:creationId xmlns:a16="http://schemas.microsoft.com/office/drawing/2014/main" id="{1891C154-9703-A9F2-BB41-84C97026B5D6}"/>
              </a:ext>
            </a:extLst>
          </p:cNvPr>
          <p:cNvSpPr/>
          <p:nvPr/>
        </p:nvSpPr>
        <p:spPr bwMode="auto">
          <a:xfrm>
            <a:off x="6142300"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b" anchorCtr="0" compatLnSpc="1">
            <a:prstTxWarp prst="textNoShape">
              <a:avLst/>
            </a:prstTxWarp>
          </a:bodyPr>
          <a:lstStyle/>
          <a:p>
            <a:pPr defTabSz="642979"/>
            <a:endParaRPr lang="ja-JP" altLang="en-US" sz="1687" dirty="0">
              <a:solidFill>
                <a:srgbClr val="000000"/>
              </a:solidFill>
              <a:latin typeface="Calibri" pitchFamily="34" charset="0"/>
              <a:ea typeface="メイリオ" pitchFamily="50" charset="-128"/>
              <a:cs typeface="メイリオ" pitchFamily="50" charset="-128"/>
            </a:endParaRPr>
          </a:p>
        </p:txBody>
      </p:sp>
      <p:sp>
        <p:nvSpPr>
          <p:cNvPr id="33" name="四角形: 角を丸くする 27">
            <a:extLst>
              <a:ext uri="{FF2B5EF4-FFF2-40B4-BE49-F238E27FC236}">
                <a16:creationId xmlns:a16="http://schemas.microsoft.com/office/drawing/2014/main" id="{21812A83-8187-F208-037E-E85770CF0317}"/>
              </a:ext>
            </a:extLst>
          </p:cNvPr>
          <p:cNvSpPr/>
          <p:nvPr/>
        </p:nvSpPr>
        <p:spPr bwMode="auto">
          <a:xfrm>
            <a:off x="6142300"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どんな</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ジャンル</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のゲーム？</a:t>
            </a:r>
          </a:p>
        </p:txBody>
      </p:sp>
      <p:sp>
        <p:nvSpPr>
          <p:cNvPr id="3" name="吹き出し: 角を丸めた四角形 2">
            <a:extLst>
              <a:ext uri="{FF2B5EF4-FFF2-40B4-BE49-F238E27FC236}">
                <a16:creationId xmlns:a16="http://schemas.microsoft.com/office/drawing/2014/main" id="{96222ECA-028F-D820-38EE-4C41622CC33B}"/>
              </a:ext>
            </a:extLst>
          </p:cNvPr>
          <p:cNvSpPr/>
          <p:nvPr/>
        </p:nvSpPr>
        <p:spPr bwMode="auto">
          <a:xfrm>
            <a:off x="5832719" y="4308336"/>
            <a:ext cx="3230662" cy="491839"/>
          </a:xfrm>
          <a:prstGeom prst="wedgeRoundRectCallout">
            <a:avLst>
              <a:gd name="adj1" fmla="val 12150"/>
              <a:gd name="adj2" fmla="val 80937"/>
              <a:gd name="adj3" fmla="val 16667"/>
            </a:avLst>
          </a:prstGeom>
          <a:solidFill>
            <a:srgbClr val="00FF00"/>
          </a:solidFill>
          <a:ln>
            <a:solidFill>
              <a:srgbClr val="DC0451"/>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225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この文法 必ず守ること！</a:t>
            </a:r>
          </a:p>
        </p:txBody>
      </p:sp>
      <p:sp>
        <p:nvSpPr>
          <p:cNvPr id="4" name="四角形: 角を丸くする 10">
            <a:extLst>
              <a:ext uri="{FF2B5EF4-FFF2-40B4-BE49-F238E27FC236}">
                <a16:creationId xmlns:a16="http://schemas.microsoft.com/office/drawing/2014/main" id="{D9013D6A-441B-F545-8210-F960A5882460}"/>
              </a:ext>
            </a:extLst>
          </p:cNvPr>
          <p:cNvSpPr/>
          <p:nvPr/>
        </p:nvSpPr>
        <p:spPr bwMode="auto">
          <a:xfrm>
            <a:off x="5869733" y="348825"/>
            <a:ext cx="3193518" cy="491218"/>
          </a:xfrm>
          <a:prstGeom prst="roundRect">
            <a:avLst/>
          </a:prstGeom>
          <a:no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algn="l"/>
            <a:r>
              <a:rPr lang="ja-JP" altLang="en-US" sz="844" dirty="0">
                <a:solidFill>
                  <a:schemeClr val="tx1"/>
                </a:solidFill>
                <a:latin typeface="HGS創英角ｺﾞｼｯｸUB" panose="020B0900000000000000" pitchFamily="50" charset="-128"/>
                <a:ea typeface="HGS創英角ｺﾞｼｯｸUB" panose="020B0900000000000000" pitchFamily="50" charset="-128"/>
              </a:rPr>
              <a:t>チーム名</a:t>
            </a:r>
          </a:p>
        </p:txBody>
      </p:sp>
      <p:sp>
        <p:nvSpPr>
          <p:cNvPr id="5" name="額縁 5">
            <a:extLst>
              <a:ext uri="{FF2B5EF4-FFF2-40B4-BE49-F238E27FC236}">
                <a16:creationId xmlns:a16="http://schemas.microsoft.com/office/drawing/2014/main" id="{9165463E-A37D-A2D7-7DF6-A0F8C7ADEDE2}"/>
              </a:ext>
            </a:extLst>
          </p:cNvPr>
          <p:cNvSpPr/>
          <p:nvPr/>
        </p:nvSpPr>
        <p:spPr bwMode="auto">
          <a:xfrm>
            <a:off x="65875" y="367293"/>
            <a:ext cx="5649126" cy="556937"/>
          </a:xfrm>
          <a:prstGeom prst="bevel">
            <a:avLst/>
          </a:prstGeom>
          <a:solidFill>
            <a:srgbClr val="0000FF"/>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sym typeface="ヒラギノ角ゴ Pro W3" pitchFamily="-84" charset="-128"/>
              </a:rPr>
              <a:t>シート❶　ゲーム概要　作成シート</a:t>
            </a:r>
          </a:p>
        </p:txBody>
      </p:sp>
    </p:spTree>
    <p:extLst>
      <p:ext uri="{BB962C8B-B14F-4D97-AF65-F5344CB8AC3E}">
        <p14:creationId xmlns:p14="http://schemas.microsoft.com/office/powerpoint/2010/main" val="3314838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327E-84E8-6E55-A3C8-D86F79656E32}"/>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E202BFCF-7385-C455-C664-16EB545B045E}"/>
              </a:ext>
            </a:extLst>
          </p:cNvPr>
          <p:cNvSpPr/>
          <p:nvPr/>
        </p:nvSpPr>
        <p:spPr bwMode="auto">
          <a:xfrm>
            <a:off x="3107024" y="3283688"/>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生き延びて　意中の女性と結婚する</a:t>
            </a:r>
            <a:endParaRPr lang="en-US" altLang="ja-JP"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endParaRPr>
          </a:p>
        </p:txBody>
      </p:sp>
      <p:sp>
        <p:nvSpPr>
          <p:cNvPr id="7" name="正方形/長方形 6">
            <a:extLst>
              <a:ext uri="{FF2B5EF4-FFF2-40B4-BE49-F238E27FC236}">
                <a16:creationId xmlns:a16="http://schemas.microsoft.com/office/drawing/2014/main" id="{9FCAB36B-52D7-4EFC-2F39-FECD075FCBBB}"/>
              </a:ext>
            </a:extLst>
          </p:cNvPr>
          <p:cNvSpPr/>
          <p:nvPr/>
        </p:nvSpPr>
        <p:spPr bwMode="auto">
          <a:xfrm>
            <a:off x="6169678" y="3277828"/>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スゴロク　ゲーム</a:t>
            </a:r>
          </a:p>
        </p:txBody>
      </p:sp>
      <p:pic>
        <p:nvPicPr>
          <p:cNvPr id="109" name="図 108">
            <a:extLst>
              <a:ext uri="{FF2B5EF4-FFF2-40B4-BE49-F238E27FC236}">
                <a16:creationId xmlns:a16="http://schemas.microsoft.com/office/drawing/2014/main" id="{A4D7F812-A432-5CEB-3090-C9AEC5DF6B7A}"/>
              </a:ext>
            </a:extLst>
          </p:cNvPr>
          <p:cNvPicPr>
            <a:picLocks noChangeAspect="1"/>
          </p:cNvPicPr>
          <p:nvPr/>
        </p:nvPicPr>
        <p:blipFill>
          <a:blip r:embed="rId2"/>
          <a:stretch>
            <a:fillRect/>
          </a:stretch>
        </p:blipFill>
        <p:spPr>
          <a:xfrm>
            <a:off x="-82108" y="7239903"/>
            <a:ext cx="1787741" cy="593884"/>
          </a:xfrm>
          <a:prstGeom prst="rect">
            <a:avLst/>
          </a:prstGeom>
        </p:spPr>
      </p:pic>
      <p:sp>
        <p:nvSpPr>
          <p:cNvPr id="15" name="正方形/長方形 14">
            <a:extLst>
              <a:ext uri="{FF2B5EF4-FFF2-40B4-BE49-F238E27FC236}">
                <a16:creationId xmlns:a16="http://schemas.microsoft.com/office/drawing/2014/main" id="{BEEE6DBF-E928-48AA-F11C-138DE7228489}"/>
              </a:ext>
            </a:extLst>
          </p:cNvPr>
          <p:cNvSpPr/>
          <p:nvPr/>
        </p:nvSpPr>
        <p:spPr bwMode="auto">
          <a:xfrm>
            <a:off x="177250" y="4968130"/>
            <a:ext cx="8790616" cy="139251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984" dirty="0">
                <a:solidFill>
                  <a:srgbClr val="000000"/>
                </a:solidFill>
                <a:latin typeface="Calibri" pitchFamily="34" charset="0"/>
                <a:ea typeface="メイリオ" pitchFamily="50" charset="-128"/>
                <a:cs typeface="メイリオ" pitchFamily="50" charset="-128"/>
              </a:rPr>
              <a:t>誰が（主人公）、どこで（ステージ）、■を繰り返して（手段）、◎を達成し（小目的）最終的に</a:t>
            </a:r>
            <a:r>
              <a:rPr lang="en-US" altLang="ja-JP" sz="984" dirty="0">
                <a:solidFill>
                  <a:srgbClr val="000000"/>
                </a:solidFill>
                <a:latin typeface="Calibri" pitchFamily="34" charset="0"/>
                <a:ea typeface="メイリオ" pitchFamily="50" charset="-128"/>
                <a:cs typeface="メイリオ" pitchFamily="50" charset="-128"/>
              </a:rPr>
              <a:t>××</a:t>
            </a:r>
            <a:r>
              <a:rPr lang="ja-JP" altLang="en-US" sz="984" dirty="0">
                <a:solidFill>
                  <a:srgbClr val="000000"/>
                </a:solidFill>
                <a:latin typeface="Calibri" pitchFamily="34" charset="0"/>
                <a:ea typeface="メイリオ" pitchFamily="50" charset="-128"/>
                <a:cs typeface="メイリオ" pitchFamily="50" charset="-128"/>
              </a:rPr>
              <a:t>する（大目的）、ジャンルゲーム</a:t>
            </a:r>
            <a:br>
              <a:rPr lang="en-US" altLang="ja-JP" sz="984" dirty="0">
                <a:solidFill>
                  <a:srgbClr val="000000"/>
                </a:solidFill>
                <a:latin typeface="Calibri" pitchFamily="34" charset="0"/>
                <a:ea typeface="メイリオ" pitchFamily="50" charset="-128"/>
                <a:cs typeface="メイリオ" pitchFamily="50" charset="-128"/>
              </a:rPr>
            </a:br>
            <a:endParaRPr lang="en-US" altLang="ja-JP" sz="984" dirty="0">
              <a:solidFill>
                <a:srgbClr val="000000"/>
              </a:solidFill>
              <a:latin typeface="Calibri" pitchFamily="34" charset="0"/>
              <a:ea typeface="メイリオ" pitchFamily="50" charset="-128"/>
              <a:cs typeface="メイリオ" pitchFamily="50" charset="-128"/>
            </a:endParaRPr>
          </a:p>
          <a:p>
            <a:pPr defTabSz="642979"/>
            <a:r>
              <a:rPr lang="ja-JP" altLang="en-US"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ぽっちゃりアマゾネスの国に漂流した、糖尿病の男性が、彼を振り向かせたいアマゾネスたちが、我さきにマンジャロを使うのを止めて生き延びて結婚までこぎつけるスゴロクゲーム</a:t>
            </a:r>
            <a:endParaRPr lang="ja-JP" altLang="en-US" i="1"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endParaRPr>
          </a:p>
        </p:txBody>
      </p:sp>
      <p:sp>
        <p:nvSpPr>
          <p:cNvPr id="16" name="四角形: 角を丸くする 1">
            <a:extLst>
              <a:ext uri="{FF2B5EF4-FFF2-40B4-BE49-F238E27FC236}">
                <a16:creationId xmlns:a16="http://schemas.microsoft.com/office/drawing/2014/main" id="{3F98B27E-D745-CE60-B60E-3A9DE750A731}"/>
              </a:ext>
            </a:extLst>
          </p:cNvPr>
          <p:cNvSpPr/>
          <p:nvPr/>
        </p:nvSpPr>
        <p:spPr bwMode="auto">
          <a:xfrm>
            <a:off x="65875" y="977834"/>
            <a:ext cx="1215283" cy="702241"/>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タイトル</a:t>
            </a:r>
          </a:p>
        </p:txBody>
      </p:sp>
      <p:sp>
        <p:nvSpPr>
          <p:cNvPr id="17" name="四角形: 角を丸くする 10">
            <a:extLst>
              <a:ext uri="{FF2B5EF4-FFF2-40B4-BE49-F238E27FC236}">
                <a16:creationId xmlns:a16="http://schemas.microsoft.com/office/drawing/2014/main" id="{2464EDED-D7AD-5BA9-F103-B10C0EB35659}"/>
              </a:ext>
            </a:extLst>
          </p:cNvPr>
          <p:cNvSpPr/>
          <p:nvPr/>
        </p:nvSpPr>
        <p:spPr bwMode="auto">
          <a:xfrm>
            <a:off x="1389846" y="963666"/>
            <a:ext cx="6826918" cy="702241"/>
          </a:xfrm>
          <a:prstGeom prst="roundRect">
            <a:avLst/>
          </a:prstGeom>
          <a:no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r>
              <a:rPr lang="ja-JP" altLang="en-US" sz="2800" dirty="0">
                <a:solidFill>
                  <a:schemeClr val="tx1"/>
                </a:solidFill>
                <a:latin typeface="HGS創英角ｺﾞｼｯｸUB" panose="020B0900000000000000" pitchFamily="50" charset="-128"/>
                <a:ea typeface="HGS創英角ｺﾞｼｯｸUB" panose="020B0900000000000000" pitchFamily="50" charset="-128"/>
              </a:rPr>
              <a:t>ぽっちゃりアマゾネス</a:t>
            </a:r>
          </a:p>
        </p:txBody>
      </p:sp>
      <p:sp>
        <p:nvSpPr>
          <p:cNvPr id="18" name="矢印: 下 4">
            <a:extLst>
              <a:ext uri="{FF2B5EF4-FFF2-40B4-BE49-F238E27FC236}">
                <a16:creationId xmlns:a16="http://schemas.microsoft.com/office/drawing/2014/main" id="{9E920A93-B75A-15F1-A3DA-A20CD64F67FA}"/>
              </a:ext>
            </a:extLst>
          </p:cNvPr>
          <p:cNvSpPr/>
          <p:nvPr/>
        </p:nvSpPr>
        <p:spPr bwMode="auto">
          <a:xfrm>
            <a:off x="3274267" y="4210361"/>
            <a:ext cx="2595466" cy="703117"/>
          </a:xfrm>
          <a:prstGeom prst="downArrow">
            <a:avLst>
              <a:gd name="adj1" fmla="val 68072"/>
              <a:gd name="adj2" fmla="val 35387"/>
            </a:avLst>
          </a:prstGeom>
          <a:solidFill>
            <a:srgbClr val="FF00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endParaRPr lang="ja-JP" altLang="en-US" sz="1266">
              <a:solidFill>
                <a:srgbClr val="000000"/>
              </a:solidFill>
              <a:latin typeface="Calibri" pitchFamily="34" charset="0"/>
              <a:ea typeface="メイリオ" pitchFamily="50" charset="-128"/>
              <a:cs typeface="メイリオ" pitchFamily="50" charset="-128"/>
            </a:endParaRPr>
          </a:p>
        </p:txBody>
      </p:sp>
      <p:sp>
        <p:nvSpPr>
          <p:cNvPr id="19" name="四角形: 角を丸くする 20">
            <a:extLst>
              <a:ext uri="{FF2B5EF4-FFF2-40B4-BE49-F238E27FC236}">
                <a16:creationId xmlns:a16="http://schemas.microsoft.com/office/drawing/2014/main" id="{143FA8BF-902C-911D-DA8C-DD6E1198E1C7}"/>
              </a:ext>
            </a:extLst>
          </p:cNvPr>
          <p:cNvSpPr/>
          <p:nvPr/>
        </p:nvSpPr>
        <p:spPr bwMode="auto">
          <a:xfrm>
            <a:off x="167156" y="4417927"/>
            <a:ext cx="3230662" cy="506368"/>
          </a:xfrm>
          <a:prstGeom prst="roundRect">
            <a:avLst/>
          </a:prstGeom>
          <a:solidFill>
            <a:schemeClr val="tx1"/>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chemeClr val="bg1"/>
                </a:solidFill>
                <a:latin typeface="HGS創英角ｺﾞｼｯｸUB" panose="020B0900000000000000" pitchFamily="50" charset="-128"/>
                <a:ea typeface="HGS創英角ｺﾞｼｯｸUB" panose="020B0900000000000000" pitchFamily="50" charset="-128"/>
                <a:cs typeface="メイリオ" pitchFamily="50" charset="-128"/>
              </a:rPr>
              <a:t>ゲーム概要</a:t>
            </a:r>
          </a:p>
        </p:txBody>
      </p:sp>
      <p:sp>
        <p:nvSpPr>
          <p:cNvPr id="20" name="正方形/長方形 19">
            <a:extLst>
              <a:ext uri="{FF2B5EF4-FFF2-40B4-BE49-F238E27FC236}">
                <a16:creationId xmlns:a16="http://schemas.microsoft.com/office/drawing/2014/main" id="{A0A623BA-7B7D-EE9D-06FD-66B80CD14425}"/>
              </a:ext>
            </a:extLst>
          </p:cNvPr>
          <p:cNvSpPr/>
          <p:nvPr/>
        </p:nvSpPr>
        <p:spPr bwMode="auto">
          <a:xfrm>
            <a:off x="65883"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アマゾネスの国に流れついた</a:t>
            </a:r>
            <a:endParaRPr lang="en-US" altLang="ja-JP"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endParaRPr>
          </a:p>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糖尿病患者のイケメン男子</a:t>
            </a:r>
          </a:p>
        </p:txBody>
      </p:sp>
      <p:sp>
        <p:nvSpPr>
          <p:cNvPr id="21" name="四角形: 角を丸くする 32">
            <a:extLst>
              <a:ext uri="{FF2B5EF4-FFF2-40B4-BE49-F238E27FC236}">
                <a16:creationId xmlns:a16="http://schemas.microsoft.com/office/drawing/2014/main" id="{692B052C-C0A3-F244-6232-DA30A9A9A33A}"/>
              </a:ext>
            </a:extLst>
          </p:cNvPr>
          <p:cNvSpPr/>
          <p:nvPr/>
        </p:nvSpPr>
        <p:spPr bwMode="auto">
          <a:xfrm>
            <a:off x="65883"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687"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主人公</a:t>
            </a:r>
            <a:r>
              <a:rPr lang="ja-JP" altLang="en-US" sz="1687"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2" name="正方形/長方形 21">
            <a:extLst>
              <a:ext uri="{FF2B5EF4-FFF2-40B4-BE49-F238E27FC236}">
                <a16:creationId xmlns:a16="http://schemas.microsoft.com/office/drawing/2014/main" id="{F9944E70-65C7-CCBB-3EBB-286025773FC8}"/>
              </a:ext>
            </a:extLst>
          </p:cNvPr>
          <p:cNvSpPr/>
          <p:nvPr/>
        </p:nvSpPr>
        <p:spPr bwMode="auto">
          <a:xfrm>
            <a:off x="3104091" y="20850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島の中をまわって</a:t>
            </a:r>
            <a:endParaRPr lang="en-US" altLang="ja-JP"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endParaRPr>
          </a:p>
        </p:txBody>
      </p:sp>
      <p:sp>
        <p:nvSpPr>
          <p:cNvPr id="23" name="四角形: 角を丸くする 34">
            <a:extLst>
              <a:ext uri="{FF2B5EF4-FFF2-40B4-BE49-F238E27FC236}">
                <a16:creationId xmlns:a16="http://schemas.microsoft.com/office/drawing/2014/main" id="{07CA8DDE-19DF-608C-E399-C192B0BE7660}"/>
              </a:ext>
            </a:extLst>
          </p:cNvPr>
          <p:cNvSpPr/>
          <p:nvPr/>
        </p:nvSpPr>
        <p:spPr bwMode="auto">
          <a:xfrm>
            <a:off x="3104091"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繰り返す</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手段</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8" name="正方形/長方形 27">
            <a:extLst>
              <a:ext uri="{FF2B5EF4-FFF2-40B4-BE49-F238E27FC236}">
                <a16:creationId xmlns:a16="http://schemas.microsoft.com/office/drawing/2014/main" id="{E9EB4E60-0AE3-79A0-66F4-3941ECECAE80}"/>
              </a:ext>
            </a:extLst>
          </p:cNvPr>
          <p:cNvSpPr/>
          <p:nvPr/>
        </p:nvSpPr>
        <p:spPr bwMode="auto">
          <a:xfrm>
            <a:off x="65883" y="326380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アマゾネスの島</a:t>
            </a:r>
          </a:p>
        </p:txBody>
      </p:sp>
      <p:sp>
        <p:nvSpPr>
          <p:cNvPr id="29" name="四角形: 角を丸くする 23">
            <a:extLst>
              <a:ext uri="{FF2B5EF4-FFF2-40B4-BE49-F238E27FC236}">
                <a16:creationId xmlns:a16="http://schemas.microsoft.com/office/drawing/2014/main" id="{31911907-A555-1D84-FCB5-571E6F4162E9}"/>
              </a:ext>
            </a:extLst>
          </p:cNvPr>
          <p:cNvSpPr/>
          <p:nvPr/>
        </p:nvSpPr>
        <p:spPr bwMode="auto">
          <a:xfrm>
            <a:off x="65883"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ステージ・フィールド</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1" name="四角形: 角を丸くする 25">
            <a:extLst>
              <a:ext uri="{FF2B5EF4-FFF2-40B4-BE49-F238E27FC236}">
                <a16:creationId xmlns:a16="http://schemas.microsoft.com/office/drawing/2014/main" id="{992E7178-B583-D066-99A6-FC26E1451CDA}"/>
              </a:ext>
            </a:extLst>
          </p:cNvPr>
          <p:cNvSpPr/>
          <p:nvPr/>
        </p:nvSpPr>
        <p:spPr bwMode="auto">
          <a:xfrm>
            <a:off x="3104091"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大目的・最終目的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33" name="四角形: 角を丸くする 27">
            <a:extLst>
              <a:ext uri="{FF2B5EF4-FFF2-40B4-BE49-F238E27FC236}">
                <a16:creationId xmlns:a16="http://schemas.microsoft.com/office/drawing/2014/main" id="{BE387814-40F7-B4EB-23FA-BB7B1A22841D}"/>
              </a:ext>
            </a:extLst>
          </p:cNvPr>
          <p:cNvSpPr/>
          <p:nvPr/>
        </p:nvSpPr>
        <p:spPr bwMode="auto">
          <a:xfrm>
            <a:off x="6142300" y="2987980"/>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どんな</a:t>
            </a:r>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ジャンル</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のゲーム？</a:t>
            </a:r>
          </a:p>
        </p:txBody>
      </p:sp>
      <p:sp>
        <p:nvSpPr>
          <p:cNvPr id="3" name="吹き出し: 角を丸めた四角形 2">
            <a:extLst>
              <a:ext uri="{FF2B5EF4-FFF2-40B4-BE49-F238E27FC236}">
                <a16:creationId xmlns:a16="http://schemas.microsoft.com/office/drawing/2014/main" id="{78DF1850-2A7C-A681-48F5-1AA8FF3035BC}"/>
              </a:ext>
            </a:extLst>
          </p:cNvPr>
          <p:cNvSpPr/>
          <p:nvPr/>
        </p:nvSpPr>
        <p:spPr bwMode="auto">
          <a:xfrm>
            <a:off x="5832719" y="4308336"/>
            <a:ext cx="3230662" cy="491839"/>
          </a:xfrm>
          <a:prstGeom prst="wedgeRoundRectCallout">
            <a:avLst>
              <a:gd name="adj1" fmla="val 12150"/>
              <a:gd name="adj2" fmla="val 80937"/>
              <a:gd name="adj3" fmla="val 16667"/>
            </a:avLst>
          </a:prstGeom>
          <a:solidFill>
            <a:srgbClr val="00FF00"/>
          </a:solidFill>
          <a:ln>
            <a:solidFill>
              <a:srgbClr val="DC0451"/>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225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この文法 必ず守ること！</a:t>
            </a:r>
          </a:p>
        </p:txBody>
      </p:sp>
      <p:sp>
        <p:nvSpPr>
          <p:cNvPr id="2" name="額縁 5">
            <a:extLst>
              <a:ext uri="{FF2B5EF4-FFF2-40B4-BE49-F238E27FC236}">
                <a16:creationId xmlns:a16="http://schemas.microsoft.com/office/drawing/2014/main" id="{89E01C40-27C7-5E28-9B71-A6978C4D99C4}"/>
              </a:ext>
            </a:extLst>
          </p:cNvPr>
          <p:cNvSpPr/>
          <p:nvPr/>
        </p:nvSpPr>
        <p:spPr bwMode="auto">
          <a:xfrm>
            <a:off x="65875" y="289901"/>
            <a:ext cx="5619999" cy="506306"/>
          </a:xfrm>
          <a:prstGeom prst="bevel">
            <a:avLst/>
          </a:prstGeom>
          <a:solidFill>
            <a:srgbClr val="006600"/>
          </a:solidFill>
          <a:ln>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2250" dirty="0">
                <a:solidFill>
                  <a:schemeClr val="bg1"/>
                </a:solidFill>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ゲーム概要　作成シート</a:t>
            </a:r>
          </a:p>
        </p:txBody>
      </p:sp>
      <p:sp>
        <p:nvSpPr>
          <p:cNvPr id="4" name="四角形: 角を丸くする 10">
            <a:extLst>
              <a:ext uri="{FF2B5EF4-FFF2-40B4-BE49-F238E27FC236}">
                <a16:creationId xmlns:a16="http://schemas.microsoft.com/office/drawing/2014/main" id="{9E4288E7-FC4F-50FB-DCD0-7D9AFA082058}"/>
              </a:ext>
            </a:extLst>
          </p:cNvPr>
          <p:cNvSpPr/>
          <p:nvPr/>
        </p:nvSpPr>
        <p:spPr bwMode="auto">
          <a:xfrm>
            <a:off x="5869733" y="348825"/>
            <a:ext cx="3193518" cy="491218"/>
          </a:xfrm>
          <a:prstGeom prst="roundRect">
            <a:avLst/>
          </a:prstGeom>
          <a:no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algn="l"/>
            <a:r>
              <a:rPr lang="ja-JP" altLang="en-US" sz="844" dirty="0">
                <a:solidFill>
                  <a:schemeClr val="tx1"/>
                </a:solidFill>
                <a:latin typeface="HGS創英角ｺﾞｼｯｸUB" panose="020B0900000000000000" pitchFamily="50" charset="-128"/>
                <a:ea typeface="HGS創英角ｺﾞｼｯｸUB" panose="020B0900000000000000" pitchFamily="50" charset="-128"/>
              </a:rPr>
              <a:t>チーム名</a:t>
            </a:r>
          </a:p>
        </p:txBody>
      </p:sp>
      <p:sp>
        <p:nvSpPr>
          <p:cNvPr id="5" name="正方形/長方形 4">
            <a:extLst>
              <a:ext uri="{FF2B5EF4-FFF2-40B4-BE49-F238E27FC236}">
                <a16:creationId xmlns:a16="http://schemas.microsoft.com/office/drawing/2014/main" id="{E7D01376-B6A4-AD7D-DB8F-1A1EC59E738F}"/>
              </a:ext>
            </a:extLst>
          </p:cNvPr>
          <p:cNvSpPr/>
          <p:nvPr/>
        </p:nvSpPr>
        <p:spPr bwMode="auto">
          <a:xfrm>
            <a:off x="6166745" y="2079142"/>
            <a:ext cx="2936935"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000000"/>
                </a:solidFill>
                <a:latin typeface="HGP創英角ｺﾞｼｯｸUB" panose="020B0A00000000000000" pitchFamily="50" charset="-128"/>
                <a:ea typeface="HGP創英角ｺﾞｼｯｸUB" panose="020B0A00000000000000" pitchFamily="50" charset="-128"/>
                <a:cs typeface="メイリオ" pitchFamily="50" charset="-128"/>
              </a:rPr>
              <a:t>マンジャロを使わせない</a:t>
            </a:r>
          </a:p>
        </p:txBody>
      </p:sp>
      <p:sp>
        <p:nvSpPr>
          <p:cNvPr id="25" name="四角形: 角を丸くする 36">
            <a:extLst>
              <a:ext uri="{FF2B5EF4-FFF2-40B4-BE49-F238E27FC236}">
                <a16:creationId xmlns:a16="http://schemas.microsoft.com/office/drawing/2014/main" id="{D0156065-70A2-F4E2-F94A-03844F2EC616}"/>
              </a:ext>
            </a:extLst>
          </p:cNvPr>
          <p:cNvSpPr/>
          <p:nvPr/>
        </p:nvSpPr>
        <p:spPr bwMode="auto">
          <a:xfrm>
            <a:off x="6142300" y="1809181"/>
            <a:ext cx="2228020" cy="506368"/>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1266" dirty="0">
                <a:solidFill>
                  <a:srgbClr val="FF0000"/>
                </a:solidFill>
                <a:latin typeface="HGS創英角ｺﾞｼｯｸUB" panose="020B0900000000000000" pitchFamily="50" charset="-128"/>
                <a:ea typeface="HGS創英角ｺﾞｼｯｸUB" panose="020B0900000000000000" pitchFamily="50" charset="-128"/>
                <a:cs typeface="メイリオ" pitchFamily="50" charset="-128"/>
              </a:rPr>
              <a:t>小目的</a:t>
            </a:r>
            <a:r>
              <a:rPr lang="ja-JP" altLang="en-US" sz="1266"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Tree>
    <p:extLst>
      <p:ext uri="{BB962C8B-B14F-4D97-AF65-F5344CB8AC3E}">
        <p14:creationId xmlns:p14="http://schemas.microsoft.com/office/powerpoint/2010/main" val="2103013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B52F8AD8-05CB-2AAA-E4BB-FA59DCFFDFCF}"/>
              </a:ext>
            </a:extLst>
          </p:cNvPr>
          <p:cNvSpPr/>
          <p:nvPr/>
        </p:nvSpPr>
        <p:spPr>
          <a:xfrm>
            <a:off x="840850" y="5709148"/>
            <a:ext cx="7462299" cy="874532"/>
          </a:xfrm>
          <a:prstGeom prst="roundRect">
            <a:avLst/>
          </a:prstGeom>
          <a:solidFill>
            <a:srgbClr val="FFFF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マンジャロを使おうと思う人に</a:t>
            </a:r>
            <a:endParaRPr kumimoji="1" lang="en-US" altLang="ja-JP" sz="2800" dirty="0">
              <a:solidFill>
                <a:schemeClr val="tx1"/>
              </a:solidFill>
              <a:latin typeface="HGP創英角ｺﾞｼｯｸUB" panose="020B0900000000000000" pitchFamily="50" charset="-128"/>
              <a:ea typeface="HGP創英角ｺﾞｼｯｸUB" panose="020B0900000000000000" pitchFamily="50" charset="-128"/>
            </a:endParaRPr>
          </a:p>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どう、何を実感され→解決案</a:t>
            </a:r>
          </a:p>
        </p:txBody>
      </p:sp>
      <p:sp>
        <p:nvSpPr>
          <p:cNvPr id="17" name="矢印: 下 16">
            <a:extLst>
              <a:ext uri="{FF2B5EF4-FFF2-40B4-BE49-F238E27FC236}">
                <a16:creationId xmlns:a16="http://schemas.microsoft.com/office/drawing/2014/main" id="{8FA4B062-0DAD-FBBD-908B-A23D66073D6F}"/>
              </a:ext>
            </a:extLst>
          </p:cNvPr>
          <p:cNvSpPr/>
          <p:nvPr/>
        </p:nvSpPr>
        <p:spPr>
          <a:xfrm>
            <a:off x="7459182" y="1548446"/>
            <a:ext cx="964620" cy="434839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額縁 5"/>
          <p:cNvSpPr/>
          <p:nvPr/>
        </p:nvSpPr>
        <p:spPr bwMode="auto">
          <a:xfrm>
            <a:off x="65874" y="420045"/>
            <a:ext cx="8657837" cy="556937"/>
          </a:xfrm>
          <a:prstGeom prst="bevel">
            <a:avLst/>
          </a:prstGeom>
          <a:solidFill>
            <a:srgbClr val="0000FF"/>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sym typeface="ヒラギノ角ゴ Pro W3" pitchFamily="-84" charset="-128"/>
              </a:rPr>
              <a:t>シート❷　</a:t>
            </a:r>
            <a:r>
              <a:rPr lang="en-US" altLang="ja-JP" sz="2531"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sym typeface="ヒラギノ角ゴ Pro W3" pitchFamily="-84" charset="-128"/>
              </a:rPr>
              <a:t>GOAL</a:t>
            </a:r>
            <a:r>
              <a:rPr lang="ja-JP" altLang="en-US" sz="2531"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sym typeface="ヒラギノ角ゴ Pro W3" pitchFamily="-84" charset="-128"/>
              </a:rPr>
              <a:t>までの道筋</a:t>
            </a: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8</a:t>
            </a:fld>
            <a:endParaRPr lang="en-US" altLang="ja-JP"/>
          </a:p>
        </p:txBody>
      </p:sp>
      <p:sp>
        <p:nvSpPr>
          <p:cNvPr id="5" name="四角形: 角を丸くする 4">
            <a:extLst>
              <a:ext uri="{FF2B5EF4-FFF2-40B4-BE49-F238E27FC236}">
                <a16:creationId xmlns:a16="http://schemas.microsoft.com/office/drawing/2014/main" id="{284FE086-ABF1-21CF-AD80-6725012D75E5}"/>
              </a:ext>
            </a:extLst>
          </p:cNvPr>
          <p:cNvSpPr/>
          <p:nvPr/>
        </p:nvSpPr>
        <p:spPr>
          <a:xfrm>
            <a:off x="65874" y="5472840"/>
            <a:ext cx="1874519" cy="47261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rPr>
              <a:t>GOAL</a:t>
            </a:r>
            <a:endParaRPr kumimoji="1" lang="ja-JP" altLang="en-US" sz="2400" dirty="0">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endParaRPr>
          </a:p>
        </p:txBody>
      </p:sp>
      <p:sp>
        <p:nvSpPr>
          <p:cNvPr id="7" name="四角形: 角を丸くする 6">
            <a:extLst>
              <a:ext uri="{FF2B5EF4-FFF2-40B4-BE49-F238E27FC236}">
                <a16:creationId xmlns:a16="http://schemas.microsoft.com/office/drawing/2014/main" id="{E250C001-E5B0-527B-7C9D-108D0D208272}"/>
              </a:ext>
            </a:extLst>
          </p:cNvPr>
          <p:cNvSpPr/>
          <p:nvPr/>
        </p:nvSpPr>
        <p:spPr>
          <a:xfrm>
            <a:off x="412806" y="1177022"/>
            <a:ext cx="1948732"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誰が</a:t>
            </a:r>
          </a:p>
        </p:txBody>
      </p:sp>
      <p:sp>
        <p:nvSpPr>
          <p:cNvPr id="8" name="四角形: 角を丸くする 7">
            <a:extLst>
              <a:ext uri="{FF2B5EF4-FFF2-40B4-BE49-F238E27FC236}">
                <a16:creationId xmlns:a16="http://schemas.microsoft.com/office/drawing/2014/main" id="{286974F4-2D6C-E5EB-234F-15727AC3D010}"/>
              </a:ext>
            </a:extLst>
          </p:cNvPr>
          <p:cNvSpPr/>
          <p:nvPr/>
        </p:nvSpPr>
        <p:spPr>
          <a:xfrm>
            <a:off x="2482191" y="1177023"/>
            <a:ext cx="6241519"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12" name="四角形: 角を丸くする 11">
            <a:extLst>
              <a:ext uri="{FF2B5EF4-FFF2-40B4-BE49-F238E27FC236}">
                <a16:creationId xmlns:a16="http://schemas.microsoft.com/office/drawing/2014/main" id="{D4609593-F4B1-5C8D-AD3B-6303D81AC30E}"/>
              </a:ext>
            </a:extLst>
          </p:cNvPr>
          <p:cNvSpPr/>
          <p:nvPr/>
        </p:nvSpPr>
        <p:spPr>
          <a:xfrm>
            <a:off x="414132" y="2100698"/>
            <a:ext cx="1948732"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どこで</a:t>
            </a:r>
          </a:p>
        </p:txBody>
      </p:sp>
      <p:sp>
        <p:nvSpPr>
          <p:cNvPr id="13" name="四角形: 角を丸くする 12">
            <a:extLst>
              <a:ext uri="{FF2B5EF4-FFF2-40B4-BE49-F238E27FC236}">
                <a16:creationId xmlns:a16="http://schemas.microsoft.com/office/drawing/2014/main" id="{1CD8F99F-2A97-DD42-0129-F59E85FC897A}"/>
              </a:ext>
            </a:extLst>
          </p:cNvPr>
          <p:cNvSpPr/>
          <p:nvPr/>
        </p:nvSpPr>
        <p:spPr>
          <a:xfrm>
            <a:off x="2483517" y="2100699"/>
            <a:ext cx="6241519"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14" name="四角形: 角を丸くする 13">
            <a:extLst>
              <a:ext uri="{FF2B5EF4-FFF2-40B4-BE49-F238E27FC236}">
                <a16:creationId xmlns:a16="http://schemas.microsoft.com/office/drawing/2014/main" id="{215D64DB-F4C1-A70B-D2BB-7715C665CBF8}"/>
              </a:ext>
            </a:extLst>
          </p:cNvPr>
          <p:cNvSpPr/>
          <p:nvPr/>
        </p:nvSpPr>
        <p:spPr>
          <a:xfrm>
            <a:off x="415459" y="3048229"/>
            <a:ext cx="1948732"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rPr>
              <a:t>どんな行動</a:t>
            </a:r>
          </a:p>
        </p:txBody>
      </p:sp>
      <p:sp>
        <p:nvSpPr>
          <p:cNvPr id="15" name="四角形: 角を丸くする 14">
            <a:extLst>
              <a:ext uri="{FF2B5EF4-FFF2-40B4-BE49-F238E27FC236}">
                <a16:creationId xmlns:a16="http://schemas.microsoft.com/office/drawing/2014/main" id="{941D0445-E4DA-084D-070C-EDCD0AF226A2}"/>
              </a:ext>
            </a:extLst>
          </p:cNvPr>
          <p:cNvSpPr/>
          <p:nvPr/>
        </p:nvSpPr>
        <p:spPr>
          <a:xfrm>
            <a:off x="2484844" y="3048230"/>
            <a:ext cx="6241519" cy="74284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16" name="四角形: 角を丸くする 15">
            <a:extLst>
              <a:ext uri="{FF2B5EF4-FFF2-40B4-BE49-F238E27FC236}">
                <a16:creationId xmlns:a16="http://schemas.microsoft.com/office/drawing/2014/main" id="{EA45E668-58E8-32B3-6C40-F5EDEDB3123F}"/>
              </a:ext>
            </a:extLst>
          </p:cNvPr>
          <p:cNvSpPr/>
          <p:nvPr/>
        </p:nvSpPr>
        <p:spPr>
          <a:xfrm>
            <a:off x="1563818" y="3971905"/>
            <a:ext cx="6241519" cy="1402210"/>
          </a:xfrm>
          <a:prstGeom prst="roundRect">
            <a:avLst/>
          </a:prstGeom>
          <a:solidFill>
            <a:schemeClr val="accent5">
              <a:lumMod val="20000"/>
              <a:lumOff val="80000"/>
            </a:schemeClr>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100" dirty="0">
                <a:solidFill>
                  <a:schemeClr val="tx1"/>
                </a:solidFill>
                <a:latin typeface="HGP創英角ｺﾞｼｯｸUB" panose="020B0900000000000000" pitchFamily="50" charset="-128"/>
                <a:ea typeface="HGP創英角ｺﾞｼｯｸUB" panose="020B0900000000000000" pitchFamily="50" charset="-128"/>
              </a:rPr>
              <a:t>〇〇という気持ちになる</a:t>
            </a:r>
          </a:p>
        </p:txBody>
      </p:sp>
      <p:sp>
        <p:nvSpPr>
          <p:cNvPr id="4" name="矢印: 右 3">
            <a:extLst>
              <a:ext uri="{FF2B5EF4-FFF2-40B4-BE49-F238E27FC236}">
                <a16:creationId xmlns:a16="http://schemas.microsoft.com/office/drawing/2014/main" id="{8C7A4D18-51A1-018E-C4D3-9D1CEF152FA0}"/>
              </a:ext>
            </a:extLst>
          </p:cNvPr>
          <p:cNvSpPr/>
          <p:nvPr/>
        </p:nvSpPr>
        <p:spPr>
          <a:xfrm>
            <a:off x="477078" y="4222980"/>
            <a:ext cx="1160891" cy="858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HGP創英角ｺﾞｼｯｸUB" panose="020B0900000000000000" pitchFamily="50" charset="-128"/>
                <a:ea typeface="HGP創英角ｺﾞｼｯｸUB" panose="020B0900000000000000" pitchFamily="50" charset="-128"/>
              </a:rPr>
              <a:t>一番</a:t>
            </a:r>
            <a:endParaRPr kumimoji="1" lang="en-US" altLang="ja-JP" sz="1600" dirty="0">
              <a:latin typeface="HGP創英角ｺﾞｼｯｸUB" panose="020B0900000000000000" pitchFamily="50" charset="-128"/>
              <a:ea typeface="HGP創英角ｺﾞｼｯｸUB" panose="020B0900000000000000" pitchFamily="50" charset="-128"/>
            </a:endParaRPr>
          </a:p>
          <a:p>
            <a:pPr algn="ctr"/>
            <a:r>
              <a:rPr kumimoji="1" lang="ja-JP" altLang="en-US" sz="1600" dirty="0">
                <a:latin typeface="HGP創英角ｺﾞｼｯｸUB" panose="020B0900000000000000" pitchFamily="50" charset="-128"/>
                <a:ea typeface="HGP創英角ｺﾞｼｯｸUB" panose="020B0900000000000000" pitchFamily="50" charset="-128"/>
              </a:rPr>
              <a:t>大事</a:t>
            </a:r>
          </a:p>
        </p:txBody>
      </p:sp>
    </p:spTree>
    <p:extLst>
      <p:ext uri="{BB962C8B-B14F-4D97-AF65-F5344CB8AC3E}">
        <p14:creationId xmlns:p14="http://schemas.microsoft.com/office/powerpoint/2010/main" val="260857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額縁 11"/>
          <p:cNvSpPr/>
          <p:nvPr/>
        </p:nvSpPr>
        <p:spPr bwMode="auto">
          <a:xfrm>
            <a:off x="116687" y="340658"/>
            <a:ext cx="7391890" cy="556914"/>
          </a:xfrm>
          <a:prstGeom prst="bevel">
            <a:avLst/>
          </a:prstGeom>
          <a:solidFill>
            <a:srgbClr val="0000FF"/>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r>
              <a:rPr lang="ja-JP" altLang="en-US" sz="2530"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rPr>
              <a:t>ゲーム画面　作成シート❸</a:t>
            </a:r>
          </a:p>
        </p:txBody>
      </p:sp>
      <p:sp>
        <p:nvSpPr>
          <p:cNvPr id="13" name="四角形: 角を丸くする 12">
            <a:extLst>
              <a:ext uri="{FF2B5EF4-FFF2-40B4-BE49-F238E27FC236}">
                <a16:creationId xmlns:a16="http://schemas.microsoft.com/office/drawing/2014/main" id="{B09BB18A-33D3-407D-9079-0641D9CE13F7}"/>
              </a:ext>
            </a:extLst>
          </p:cNvPr>
          <p:cNvSpPr/>
          <p:nvPr/>
        </p:nvSpPr>
        <p:spPr bwMode="auto">
          <a:xfrm>
            <a:off x="471086" y="1555743"/>
            <a:ext cx="8303085" cy="4818679"/>
          </a:xfrm>
          <a:prstGeom prst="round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endParaRPr lang="ja-JP" altLang="en-US" sz="3093">
              <a:solidFill>
                <a:srgbClr val="000000"/>
              </a:solidFill>
              <a:latin typeface="Calibri" pitchFamily="34" charset="0"/>
              <a:ea typeface="メイリオ" pitchFamily="50" charset="-128"/>
              <a:cs typeface="メイリオ" pitchFamily="50" charset="-128"/>
            </a:endParaRPr>
          </a:p>
        </p:txBody>
      </p:sp>
      <p:sp>
        <p:nvSpPr>
          <p:cNvPr id="2" name="テキスト ボックス 1">
            <a:extLst>
              <a:ext uri="{FF2B5EF4-FFF2-40B4-BE49-F238E27FC236}">
                <a16:creationId xmlns:a16="http://schemas.microsoft.com/office/drawing/2014/main" id="{525ECD96-F824-1918-2286-1AB0A192F1F6}"/>
              </a:ext>
            </a:extLst>
          </p:cNvPr>
          <p:cNvSpPr txBox="1"/>
          <p:nvPr/>
        </p:nvSpPr>
        <p:spPr>
          <a:xfrm>
            <a:off x="217944" y="958261"/>
            <a:ext cx="8860182" cy="438453"/>
          </a:xfrm>
          <a:prstGeom prst="rect">
            <a:avLst/>
          </a:prstGeom>
          <a:noFill/>
        </p:spPr>
        <p:txBody>
          <a:bodyPr wrap="square" rtlCol="0">
            <a:spAutoFit/>
          </a:bodyPr>
          <a:lstStyle/>
          <a:p>
            <a:pPr algn="l"/>
            <a:r>
              <a:rPr kumimoji="1" lang="ja-JP" altLang="en-US" sz="2249" dirty="0">
                <a:latin typeface="HGP創英角ｺﾞｼｯｸUB" panose="020B0900000000000000" pitchFamily="50" charset="-128"/>
                <a:ea typeface="HGP創英角ｺﾞｼｯｸUB" panose="020B0900000000000000" pitchFamily="50" charset="-128"/>
              </a:rPr>
              <a:t>イメージ画像（初見の人がゲームをイメージできるようなコンセプト画面）</a:t>
            </a:r>
          </a:p>
        </p:txBody>
      </p:sp>
      <p:sp>
        <p:nvSpPr>
          <p:cNvPr id="4" name="四角形: 角を丸くする 3">
            <a:extLst>
              <a:ext uri="{FF2B5EF4-FFF2-40B4-BE49-F238E27FC236}">
                <a16:creationId xmlns:a16="http://schemas.microsoft.com/office/drawing/2014/main" id="{5442D54A-234E-F330-E776-2B5F9A87A3EE}"/>
              </a:ext>
            </a:extLst>
          </p:cNvPr>
          <p:cNvSpPr/>
          <p:nvPr/>
        </p:nvSpPr>
        <p:spPr bwMode="auto">
          <a:xfrm>
            <a:off x="5382090" y="5899739"/>
            <a:ext cx="3696036" cy="799929"/>
          </a:xfrm>
          <a:prstGeom prst="roundRect">
            <a:avLst/>
          </a:prstGeom>
          <a:solidFill>
            <a:srgbClr val="FFFF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生成</a:t>
            </a:r>
            <a:r>
              <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AI</a:t>
            </a: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をつかって</a:t>
            </a:r>
            <a:endPar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endParaRPr>
          </a:p>
          <a:p>
            <a:pPr algn="ctr" defTabSz="642915" fontAlgn="base">
              <a:spcBef>
                <a:spcPct val="0"/>
              </a:spcBef>
              <a:spcAft>
                <a:spcPct val="0"/>
              </a:spcAft>
            </a:pP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イメージ画像を！</a:t>
            </a:r>
            <a:endPar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endParaRPr>
          </a:p>
        </p:txBody>
      </p:sp>
    </p:spTree>
    <p:extLst>
      <p:ext uri="{BB962C8B-B14F-4D97-AF65-F5344CB8AC3E}">
        <p14:creationId xmlns:p14="http://schemas.microsoft.com/office/powerpoint/2010/main" val="3927681154"/>
      </p:ext>
    </p:extLst>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E6BC4FB-5854-4938-8DF7-F83556120E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2481" y="1897184"/>
            <a:ext cx="6202252" cy="3488768"/>
          </a:xfrm>
          <a:prstGeom prst="rect">
            <a:avLst/>
          </a:prstGeom>
        </p:spPr>
      </p:pic>
      <p:grpSp>
        <p:nvGrpSpPr>
          <p:cNvPr id="18" name="グループ化 17">
            <a:extLst>
              <a:ext uri="{FF2B5EF4-FFF2-40B4-BE49-F238E27FC236}">
                <a16:creationId xmlns:a16="http://schemas.microsoft.com/office/drawing/2014/main" id="{6B7E2239-25C1-43B6-9A5F-8E31A9EF3521}"/>
              </a:ext>
            </a:extLst>
          </p:cNvPr>
          <p:cNvGrpSpPr/>
          <p:nvPr/>
        </p:nvGrpSpPr>
        <p:grpSpPr>
          <a:xfrm>
            <a:off x="6597225" y="2134075"/>
            <a:ext cx="829056" cy="370612"/>
            <a:chOff x="9057182" y="2952806"/>
            <a:chExt cx="1525524" cy="681954"/>
          </a:xfrm>
        </p:grpSpPr>
        <p:sp>
          <p:nvSpPr>
            <p:cNvPr id="11" name="フローチャート: 結合子 10">
              <a:extLst>
                <a:ext uri="{FF2B5EF4-FFF2-40B4-BE49-F238E27FC236}">
                  <a16:creationId xmlns:a16="http://schemas.microsoft.com/office/drawing/2014/main" id="{AAE60182-A81E-4F69-B888-79E8CB8F02C0}"/>
                </a:ext>
              </a:extLst>
            </p:cNvPr>
            <p:cNvSpPr/>
            <p:nvPr/>
          </p:nvSpPr>
          <p:spPr bwMode="auto">
            <a:xfrm>
              <a:off x="9057182" y="2962020"/>
              <a:ext cx="628764" cy="672006"/>
            </a:xfrm>
            <a:prstGeom prst="flowChartConnector">
              <a:avLst/>
            </a:prstGeom>
            <a:solidFill>
              <a:srgbClr val="FFFF00"/>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endParaRPr lang="ja-JP" altLang="en-US" sz="3094">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sp>
          <p:nvSpPr>
            <p:cNvPr id="15" name="フローチャート: 結合子 14">
              <a:extLst>
                <a:ext uri="{FF2B5EF4-FFF2-40B4-BE49-F238E27FC236}">
                  <a16:creationId xmlns:a16="http://schemas.microsoft.com/office/drawing/2014/main" id="{4F48E981-0396-4C50-ABE9-36494E67BD28}"/>
                </a:ext>
              </a:extLst>
            </p:cNvPr>
            <p:cNvSpPr/>
            <p:nvPr/>
          </p:nvSpPr>
          <p:spPr bwMode="auto">
            <a:xfrm>
              <a:off x="9362339" y="2962019"/>
              <a:ext cx="629452" cy="672741"/>
            </a:xfrm>
            <a:prstGeom prst="flowChartConnector">
              <a:avLst/>
            </a:prstGeom>
            <a:solidFill>
              <a:srgbClr val="FFFF00"/>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endParaRPr lang="ja-JP" altLang="en-US" sz="3094">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sp>
          <p:nvSpPr>
            <p:cNvPr id="16" name="フローチャート: 結合子 15">
              <a:extLst>
                <a:ext uri="{FF2B5EF4-FFF2-40B4-BE49-F238E27FC236}">
                  <a16:creationId xmlns:a16="http://schemas.microsoft.com/office/drawing/2014/main" id="{7843B1C5-8AAD-4C28-B9A7-0419840BCA9D}"/>
                </a:ext>
              </a:extLst>
            </p:cNvPr>
            <p:cNvSpPr/>
            <p:nvPr/>
          </p:nvSpPr>
          <p:spPr bwMode="auto">
            <a:xfrm>
              <a:off x="9676377" y="2962018"/>
              <a:ext cx="629452" cy="672741"/>
            </a:xfrm>
            <a:prstGeom prst="flowChartConnector">
              <a:avLst/>
            </a:prstGeom>
            <a:solidFill>
              <a:srgbClr val="FFFF00"/>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endParaRPr lang="ja-JP" altLang="en-US" sz="3094">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sp>
          <p:nvSpPr>
            <p:cNvPr id="17" name="フローチャート: 結合子 16">
              <a:extLst>
                <a:ext uri="{FF2B5EF4-FFF2-40B4-BE49-F238E27FC236}">
                  <a16:creationId xmlns:a16="http://schemas.microsoft.com/office/drawing/2014/main" id="{B8417753-3866-4B8A-A42D-A41BADA875DD}"/>
                </a:ext>
              </a:extLst>
            </p:cNvPr>
            <p:cNvSpPr/>
            <p:nvPr/>
          </p:nvSpPr>
          <p:spPr bwMode="auto">
            <a:xfrm>
              <a:off x="9953254" y="2952806"/>
              <a:ext cx="629452" cy="672741"/>
            </a:xfrm>
            <a:prstGeom prst="flowChartConnector">
              <a:avLst/>
            </a:prstGeom>
            <a:solidFill>
              <a:srgbClr val="FFFF00"/>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endParaRPr lang="ja-JP" altLang="en-US" sz="3094">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grpSp>
      <p:sp>
        <p:nvSpPr>
          <p:cNvPr id="12" name="額縁 11"/>
          <p:cNvSpPr/>
          <p:nvPr/>
        </p:nvSpPr>
        <p:spPr bwMode="auto">
          <a:xfrm>
            <a:off x="116687" y="340658"/>
            <a:ext cx="7341082" cy="556914"/>
          </a:xfrm>
          <a:prstGeom prst="bevel">
            <a:avLst/>
          </a:prstGeom>
          <a:solidFill>
            <a:srgbClr val="00B05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r>
              <a:rPr lang="ja-JP" altLang="en-US" sz="2530" dirty="0">
                <a:solidFill>
                  <a:schemeClr val="bg1"/>
                </a:solidFill>
                <a:latin typeface="HGP行書体" panose="03000600000000000000" pitchFamily="66" charset="-128"/>
                <a:ea typeface="HGP行書体" panose="03000600000000000000" pitchFamily="66" charset="-128"/>
                <a:cs typeface="メイリオ" pitchFamily="50" charset="-128"/>
              </a:rPr>
              <a:t>ゲーム画面　作成シート</a:t>
            </a:r>
          </a:p>
        </p:txBody>
      </p:sp>
      <p:sp>
        <p:nvSpPr>
          <p:cNvPr id="13" name="四角形: 角を丸くする 12">
            <a:extLst>
              <a:ext uri="{FF2B5EF4-FFF2-40B4-BE49-F238E27FC236}">
                <a16:creationId xmlns:a16="http://schemas.microsoft.com/office/drawing/2014/main" id="{B09BB18A-33D3-407D-9079-0641D9CE13F7}"/>
              </a:ext>
            </a:extLst>
          </p:cNvPr>
          <p:cNvSpPr/>
          <p:nvPr/>
        </p:nvSpPr>
        <p:spPr bwMode="auto">
          <a:xfrm>
            <a:off x="471086" y="1555744"/>
            <a:ext cx="8303085" cy="4343996"/>
          </a:xfrm>
          <a:prstGeom prst="round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endParaRPr lang="ja-JP" altLang="en-US" sz="3093">
              <a:solidFill>
                <a:srgbClr val="000000"/>
              </a:solidFill>
              <a:latin typeface="Calibri" pitchFamily="34" charset="0"/>
              <a:ea typeface="メイリオ" pitchFamily="50" charset="-128"/>
              <a:cs typeface="メイリオ" pitchFamily="50" charset="-128"/>
            </a:endParaRPr>
          </a:p>
        </p:txBody>
      </p:sp>
      <p:sp>
        <p:nvSpPr>
          <p:cNvPr id="2" name="テキスト ボックス 1">
            <a:extLst>
              <a:ext uri="{FF2B5EF4-FFF2-40B4-BE49-F238E27FC236}">
                <a16:creationId xmlns:a16="http://schemas.microsoft.com/office/drawing/2014/main" id="{525ECD96-F824-1918-2286-1AB0A192F1F6}"/>
              </a:ext>
            </a:extLst>
          </p:cNvPr>
          <p:cNvSpPr txBox="1"/>
          <p:nvPr/>
        </p:nvSpPr>
        <p:spPr>
          <a:xfrm>
            <a:off x="217944" y="958261"/>
            <a:ext cx="8860182" cy="438453"/>
          </a:xfrm>
          <a:prstGeom prst="rect">
            <a:avLst/>
          </a:prstGeom>
          <a:noFill/>
        </p:spPr>
        <p:txBody>
          <a:bodyPr wrap="square" rtlCol="0">
            <a:spAutoFit/>
          </a:bodyPr>
          <a:lstStyle/>
          <a:p>
            <a:pPr algn="l"/>
            <a:r>
              <a:rPr kumimoji="1" lang="ja-JP" altLang="en-US" sz="2249" dirty="0">
                <a:latin typeface="HGP創英角ｺﾞｼｯｸUB" panose="020B0900000000000000" pitchFamily="50" charset="-128"/>
                <a:ea typeface="HGP創英角ｺﾞｼｯｸUB" panose="020B0900000000000000" pitchFamily="50" charset="-128"/>
              </a:rPr>
              <a:t>ゲーム画面　（視点、</a:t>
            </a:r>
            <a:r>
              <a:rPr kumimoji="1" lang="en-US" altLang="ja-JP" sz="2249" dirty="0">
                <a:latin typeface="HGP創英角ｺﾞｼｯｸUB" panose="020B0900000000000000" pitchFamily="50" charset="-128"/>
                <a:ea typeface="HGP創英角ｺﾞｼｯｸUB" panose="020B0900000000000000" pitchFamily="50" charset="-128"/>
              </a:rPr>
              <a:t>UI</a:t>
            </a:r>
            <a:r>
              <a:rPr kumimoji="1" lang="ja-JP" altLang="en-US" sz="2249" dirty="0">
                <a:latin typeface="HGP創英角ｺﾞｼｯｸUB" panose="020B0900000000000000" pitchFamily="50" charset="-128"/>
                <a:ea typeface="HGP創英角ｺﾞｼｯｸUB" panose="020B0900000000000000" pitchFamily="50" charset="-128"/>
              </a:rPr>
              <a:t>、スクロール方向などがわかるようにしましょう！）</a:t>
            </a:r>
          </a:p>
        </p:txBody>
      </p:sp>
      <p:sp>
        <p:nvSpPr>
          <p:cNvPr id="10" name="テキスト ボックス 9">
            <a:extLst>
              <a:ext uri="{FF2B5EF4-FFF2-40B4-BE49-F238E27FC236}">
                <a16:creationId xmlns:a16="http://schemas.microsoft.com/office/drawing/2014/main" id="{0EDD8A67-11D2-4FF4-8495-F598562DFD03}"/>
              </a:ext>
            </a:extLst>
          </p:cNvPr>
          <p:cNvSpPr txBox="1"/>
          <p:nvPr/>
        </p:nvSpPr>
        <p:spPr>
          <a:xfrm rot="21059515">
            <a:off x="1368848" y="2068932"/>
            <a:ext cx="1379754" cy="395365"/>
          </a:xfrm>
          <a:prstGeom prst="rect">
            <a:avLst/>
          </a:prstGeom>
          <a:noFill/>
        </p:spPr>
        <p:txBody>
          <a:bodyPr wrap="square" rtlCol="0">
            <a:spAutoFit/>
          </a:bodyPr>
          <a:lstStyle/>
          <a:p>
            <a:r>
              <a:rPr kumimoji="1" lang="en-US" altLang="ja-JP" sz="1969" dirty="0">
                <a:solidFill>
                  <a:schemeClr val="bg1"/>
                </a:solidFill>
                <a:latin typeface="HGS創英角ｺﾞｼｯｸUB" panose="020B0900000000000000" pitchFamily="50" charset="-128"/>
                <a:ea typeface="HGS創英角ｺﾞｼｯｸUB" panose="020B0900000000000000" pitchFamily="50" charset="-128"/>
              </a:rPr>
              <a:t>09</a:t>
            </a:r>
            <a:r>
              <a:rPr kumimoji="1" lang="ja-JP" altLang="en-US" sz="1969" dirty="0">
                <a:solidFill>
                  <a:schemeClr val="bg1"/>
                </a:solidFill>
                <a:latin typeface="HGS創英角ｺﾞｼｯｸUB" panose="020B0900000000000000" pitchFamily="50" charset="-128"/>
                <a:ea typeface="HGS創英角ｺﾞｼｯｸUB" panose="020B0900000000000000" pitchFamily="50" charset="-128"/>
              </a:rPr>
              <a:t>：</a:t>
            </a:r>
            <a:r>
              <a:rPr kumimoji="1" lang="en-US" altLang="ja-JP" sz="1969" dirty="0">
                <a:solidFill>
                  <a:schemeClr val="bg1"/>
                </a:solidFill>
                <a:latin typeface="HGS創英角ｺﾞｼｯｸUB" panose="020B0900000000000000" pitchFamily="50" charset="-128"/>
                <a:ea typeface="HGS創英角ｺﾞｼｯｸUB" panose="020B0900000000000000" pitchFamily="50" charset="-128"/>
              </a:rPr>
              <a:t>24</a:t>
            </a:r>
            <a:endParaRPr kumimoji="1" lang="ja-JP" altLang="en-US" sz="1969" dirty="0">
              <a:solidFill>
                <a:schemeClr val="bg1"/>
              </a:solidFill>
              <a:latin typeface="HGS創英角ｺﾞｼｯｸUB" panose="020B0900000000000000" pitchFamily="50" charset="-128"/>
              <a:ea typeface="HGS創英角ｺﾞｼｯｸUB" panose="020B0900000000000000" pitchFamily="50" charset="-128"/>
            </a:endParaRPr>
          </a:p>
        </p:txBody>
      </p:sp>
      <p:sp>
        <p:nvSpPr>
          <p:cNvPr id="14" name="テキスト ボックス 13">
            <a:extLst>
              <a:ext uri="{FF2B5EF4-FFF2-40B4-BE49-F238E27FC236}">
                <a16:creationId xmlns:a16="http://schemas.microsoft.com/office/drawing/2014/main" id="{9F8C131C-3BF8-4D6D-B587-FD5C56BD1E8D}"/>
              </a:ext>
            </a:extLst>
          </p:cNvPr>
          <p:cNvSpPr txBox="1"/>
          <p:nvPr/>
        </p:nvSpPr>
        <p:spPr>
          <a:xfrm>
            <a:off x="6565364" y="2108066"/>
            <a:ext cx="1379754" cy="351956"/>
          </a:xfrm>
          <a:prstGeom prst="rect">
            <a:avLst/>
          </a:prstGeom>
          <a:noFill/>
        </p:spPr>
        <p:txBody>
          <a:bodyPr wrap="square" rtlCol="0">
            <a:spAutoFit/>
          </a:bodyPr>
          <a:lstStyle/>
          <a:p>
            <a:pPr algn="l"/>
            <a:r>
              <a:rPr kumimoji="1" lang="ja-JP" altLang="en-US" sz="1687" dirty="0">
                <a:latin typeface="HGS創英角ｺﾞｼｯｸUB" panose="020B0900000000000000" pitchFamily="50" charset="-128"/>
                <a:ea typeface="HGS創英角ｺﾞｼｯｸUB" panose="020B0900000000000000" pitchFamily="50" charset="-128"/>
              </a:rPr>
              <a:t>￥</a:t>
            </a:r>
            <a:r>
              <a:rPr kumimoji="1" lang="en-US" altLang="ja-JP" sz="1687" dirty="0">
                <a:latin typeface="HGS創英角ｺﾞｼｯｸUB" panose="020B0900000000000000" pitchFamily="50" charset="-128"/>
                <a:ea typeface="HGS創英角ｺﾞｼｯｸUB" panose="020B0900000000000000" pitchFamily="50" charset="-128"/>
              </a:rPr>
              <a:t>1000</a:t>
            </a:r>
            <a:endParaRPr kumimoji="1" lang="ja-JP" altLang="en-US" sz="1687" dirty="0">
              <a:latin typeface="HGS創英角ｺﾞｼｯｸUB" panose="020B0900000000000000" pitchFamily="50" charset="-128"/>
              <a:ea typeface="HGS創英角ｺﾞｼｯｸUB" panose="020B0900000000000000" pitchFamily="50" charset="-128"/>
            </a:endParaRPr>
          </a:p>
        </p:txBody>
      </p:sp>
      <p:pic>
        <p:nvPicPr>
          <p:cNvPr id="25" name="図 24" descr="座る, テーブル, ピンク が含まれている画像&#10;&#10;自動的に生成された説明">
            <a:extLst>
              <a:ext uri="{FF2B5EF4-FFF2-40B4-BE49-F238E27FC236}">
                <a16:creationId xmlns:a16="http://schemas.microsoft.com/office/drawing/2014/main" id="{21A16FAE-56F1-BD5E-D22C-A5DBF188F7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6955" y="2887404"/>
            <a:ext cx="628942" cy="505833"/>
          </a:xfrm>
          <a:prstGeom prst="rect">
            <a:avLst/>
          </a:prstGeom>
        </p:spPr>
      </p:pic>
      <p:pic>
        <p:nvPicPr>
          <p:cNvPr id="23" name="図 22">
            <a:extLst>
              <a:ext uri="{FF2B5EF4-FFF2-40B4-BE49-F238E27FC236}">
                <a16:creationId xmlns:a16="http://schemas.microsoft.com/office/drawing/2014/main" id="{C6F94516-547A-22B6-27CC-9BE34AFE2A6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03592" y="2770802"/>
            <a:ext cx="317777" cy="331462"/>
          </a:xfrm>
          <a:prstGeom prst="rect">
            <a:avLst/>
          </a:prstGeom>
        </p:spPr>
      </p:pic>
      <p:pic>
        <p:nvPicPr>
          <p:cNvPr id="4" name="図 3">
            <a:extLst>
              <a:ext uri="{FF2B5EF4-FFF2-40B4-BE49-F238E27FC236}">
                <a16:creationId xmlns:a16="http://schemas.microsoft.com/office/drawing/2014/main" id="{22E4B628-53EB-68F4-DC94-5E6C568C1E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86886">
            <a:off x="4217548" y="2577238"/>
            <a:ext cx="480679" cy="480679"/>
          </a:xfrm>
          <a:prstGeom prst="rect">
            <a:avLst/>
          </a:prstGeom>
        </p:spPr>
      </p:pic>
      <p:sp>
        <p:nvSpPr>
          <p:cNvPr id="26" name="円弧 25">
            <a:extLst>
              <a:ext uri="{FF2B5EF4-FFF2-40B4-BE49-F238E27FC236}">
                <a16:creationId xmlns:a16="http://schemas.microsoft.com/office/drawing/2014/main" id="{2CD0F19F-F61B-8E69-2502-95E191E24D2D}"/>
              </a:ext>
            </a:extLst>
          </p:cNvPr>
          <p:cNvSpPr/>
          <p:nvPr/>
        </p:nvSpPr>
        <p:spPr bwMode="auto">
          <a:xfrm rot="1489300">
            <a:off x="4614110" y="2773399"/>
            <a:ext cx="261641" cy="258195"/>
          </a:xfrm>
          <a:prstGeom prst="arc">
            <a:avLst/>
          </a:prstGeom>
          <a:ln w="76200">
            <a:solidFill>
              <a:srgbClr val="FFFF0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sz="1266"/>
          </a:p>
        </p:txBody>
      </p:sp>
      <p:sp>
        <p:nvSpPr>
          <p:cNvPr id="27" name="円弧 26">
            <a:extLst>
              <a:ext uri="{FF2B5EF4-FFF2-40B4-BE49-F238E27FC236}">
                <a16:creationId xmlns:a16="http://schemas.microsoft.com/office/drawing/2014/main" id="{87BDB492-37C7-6FFC-406E-530B98BD1283}"/>
              </a:ext>
            </a:extLst>
          </p:cNvPr>
          <p:cNvSpPr/>
          <p:nvPr/>
        </p:nvSpPr>
        <p:spPr bwMode="auto">
          <a:xfrm rot="1489300">
            <a:off x="4715371" y="2763164"/>
            <a:ext cx="261641" cy="258195"/>
          </a:xfrm>
          <a:prstGeom prst="arc">
            <a:avLst/>
          </a:prstGeom>
          <a:ln w="76200">
            <a:solidFill>
              <a:srgbClr val="FFFF0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sz="1266"/>
          </a:p>
        </p:txBody>
      </p:sp>
      <p:sp>
        <p:nvSpPr>
          <p:cNvPr id="28" name="円弧 27">
            <a:extLst>
              <a:ext uri="{FF2B5EF4-FFF2-40B4-BE49-F238E27FC236}">
                <a16:creationId xmlns:a16="http://schemas.microsoft.com/office/drawing/2014/main" id="{451B00C1-7462-5DB8-6BD1-9AF51A13B7CF}"/>
              </a:ext>
            </a:extLst>
          </p:cNvPr>
          <p:cNvSpPr/>
          <p:nvPr/>
        </p:nvSpPr>
        <p:spPr bwMode="auto">
          <a:xfrm rot="13370147">
            <a:off x="4054952" y="2926579"/>
            <a:ext cx="261641" cy="258195"/>
          </a:xfrm>
          <a:prstGeom prst="arc">
            <a:avLst/>
          </a:prstGeom>
          <a:ln w="76200">
            <a:solidFill>
              <a:srgbClr val="FFFF0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sz="1266"/>
          </a:p>
        </p:txBody>
      </p:sp>
      <p:sp>
        <p:nvSpPr>
          <p:cNvPr id="29" name="円弧 28">
            <a:extLst>
              <a:ext uri="{FF2B5EF4-FFF2-40B4-BE49-F238E27FC236}">
                <a16:creationId xmlns:a16="http://schemas.microsoft.com/office/drawing/2014/main" id="{E4468085-AD9D-A938-5596-38F113DA9518}"/>
              </a:ext>
            </a:extLst>
          </p:cNvPr>
          <p:cNvSpPr/>
          <p:nvPr/>
        </p:nvSpPr>
        <p:spPr bwMode="auto">
          <a:xfrm rot="13370147">
            <a:off x="3953691" y="2977210"/>
            <a:ext cx="261641" cy="258195"/>
          </a:xfrm>
          <a:prstGeom prst="arc">
            <a:avLst/>
          </a:prstGeom>
          <a:ln w="76200">
            <a:solidFill>
              <a:srgbClr val="FFFF0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sz="1266"/>
          </a:p>
        </p:txBody>
      </p:sp>
      <p:sp>
        <p:nvSpPr>
          <p:cNvPr id="30" name="正方形/長方形 29">
            <a:extLst>
              <a:ext uri="{FF2B5EF4-FFF2-40B4-BE49-F238E27FC236}">
                <a16:creationId xmlns:a16="http://schemas.microsoft.com/office/drawing/2014/main" id="{2D84EEF2-4A85-B8EA-83F0-907359A262DB}"/>
              </a:ext>
            </a:extLst>
          </p:cNvPr>
          <p:cNvSpPr/>
          <p:nvPr/>
        </p:nvSpPr>
        <p:spPr>
          <a:xfrm rot="614400">
            <a:off x="3792804" y="2102748"/>
            <a:ext cx="1457130" cy="497669"/>
          </a:xfrm>
          <a:prstGeom prst="rect">
            <a:avLst/>
          </a:prstGeom>
          <a:noFill/>
        </p:spPr>
        <p:txBody>
          <a:bodyPr wrap="none" lIns="64294" tIns="32147" rIns="64294" bIns="32147">
            <a:spAutoFit/>
          </a:bodyPr>
          <a:lstStyle/>
          <a:p>
            <a:pPr algn="ctr"/>
            <a:r>
              <a:rPr kumimoji="1" lang="ja-JP" altLang="en-US" sz="2812" b="1" dirty="0">
                <a:ln w="12700">
                  <a:solidFill>
                    <a:schemeClr val="tx2"/>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HGP創英角ﾎﾟｯﾌﾟ体" panose="040B0A00000000000000" pitchFamily="50" charset="-128"/>
                <a:ea typeface="HGP創英角ﾎﾟｯﾌﾟ体" panose="040B0A00000000000000" pitchFamily="50" charset="-128"/>
              </a:rPr>
              <a:t>グラグラ</a:t>
            </a:r>
            <a:endParaRPr lang="ja-JP" altLang="en-US" sz="2812" b="1" dirty="0">
              <a:ln w="12700">
                <a:solidFill>
                  <a:schemeClr val="tx2"/>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HGP創英角ﾎﾟｯﾌﾟ体" panose="040B0A00000000000000" pitchFamily="50" charset="-128"/>
              <a:ea typeface="HGP創英角ﾎﾟｯﾌﾟ体" panose="040B0A00000000000000" pitchFamily="50" charset="-128"/>
            </a:endParaRPr>
          </a:p>
        </p:txBody>
      </p:sp>
      <p:pic>
        <p:nvPicPr>
          <p:cNvPr id="32" name="図 31">
            <a:extLst>
              <a:ext uri="{FF2B5EF4-FFF2-40B4-BE49-F238E27FC236}">
                <a16:creationId xmlns:a16="http://schemas.microsoft.com/office/drawing/2014/main" id="{C53366E6-98B1-189D-A725-BF7D4091FB8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3555248">
            <a:off x="4769083" y="3187377"/>
            <a:ext cx="497563" cy="457298"/>
          </a:xfrm>
          <a:prstGeom prst="rect">
            <a:avLst/>
          </a:prstGeom>
        </p:spPr>
      </p:pic>
      <p:sp>
        <p:nvSpPr>
          <p:cNvPr id="33" name="テキスト ボックス 32">
            <a:extLst>
              <a:ext uri="{FF2B5EF4-FFF2-40B4-BE49-F238E27FC236}">
                <a16:creationId xmlns:a16="http://schemas.microsoft.com/office/drawing/2014/main" id="{B1944A2C-F17A-1434-9D66-07FC77FA51C8}"/>
              </a:ext>
            </a:extLst>
          </p:cNvPr>
          <p:cNvSpPr txBox="1"/>
          <p:nvPr/>
        </p:nvSpPr>
        <p:spPr>
          <a:xfrm>
            <a:off x="514536" y="5899740"/>
            <a:ext cx="8259635" cy="698396"/>
          </a:xfrm>
          <a:prstGeom prst="rect">
            <a:avLst/>
          </a:prstGeom>
          <a:noFill/>
        </p:spPr>
        <p:txBody>
          <a:bodyPr wrap="square" rtlCol="0">
            <a:spAutoFit/>
          </a:bodyPr>
          <a:lstStyle/>
          <a:p>
            <a:r>
              <a:rPr kumimoji="1" lang="ja-JP" altLang="en-US" sz="1969" dirty="0">
                <a:latin typeface="HGS創英角ｺﾞｼｯｸUB" panose="020B0900000000000000" pitchFamily="50" charset="-128"/>
                <a:ea typeface="HGS創英角ｺﾞｼｯｸUB" panose="020B0900000000000000" pitchFamily="50" charset="-128"/>
              </a:rPr>
              <a:t>ママに頼まれたお使いをして白線の上のみをたどって襲い来る</a:t>
            </a:r>
            <a:endParaRPr kumimoji="1" lang="en-US" altLang="ja-JP" sz="1969" dirty="0">
              <a:latin typeface="HGS創英角ｺﾞｼｯｸUB" panose="020B0900000000000000" pitchFamily="50" charset="-128"/>
              <a:ea typeface="HGS創英角ｺﾞｼｯｸUB" panose="020B0900000000000000" pitchFamily="50" charset="-128"/>
            </a:endParaRPr>
          </a:p>
          <a:p>
            <a:r>
              <a:rPr kumimoji="1" lang="ja-JP" altLang="en-US" sz="1969" dirty="0">
                <a:latin typeface="HGS創英角ｺﾞｼｯｸUB" panose="020B0900000000000000" pitchFamily="50" charset="-128"/>
                <a:ea typeface="HGS創英角ｺﾞｼｯｸUB" panose="020B0900000000000000" pitchFamily="50" charset="-128"/>
              </a:rPr>
              <a:t>野良猫を回避して無事帰宅する買い物アクションゲーム！</a:t>
            </a:r>
          </a:p>
        </p:txBody>
      </p:sp>
      <p:pic>
        <p:nvPicPr>
          <p:cNvPr id="35" name="図 34">
            <a:extLst>
              <a:ext uri="{FF2B5EF4-FFF2-40B4-BE49-F238E27FC236}">
                <a16:creationId xmlns:a16="http://schemas.microsoft.com/office/drawing/2014/main" id="{F23789DF-1B16-4652-017D-B78F175344C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5442014" y="2292069"/>
            <a:ext cx="1042539" cy="1159988"/>
          </a:xfrm>
          <a:prstGeom prst="rect">
            <a:avLst/>
          </a:prstGeom>
        </p:spPr>
      </p:pic>
      <p:pic>
        <p:nvPicPr>
          <p:cNvPr id="37" name="図 36">
            <a:extLst>
              <a:ext uri="{FF2B5EF4-FFF2-40B4-BE49-F238E27FC236}">
                <a16:creationId xmlns:a16="http://schemas.microsoft.com/office/drawing/2014/main" id="{44BE0F35-9CCD-0F55-031A-5D11110938D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71066" y="2032050"/>
            <a:ext cx="524258" cy="524258"/>
          </a:xfrm>
          <a:prstGeom prst="rect">
            <a:avLst/>
          </a:prstGeom>
        </p:spPr>
      </p:pic>
      <p:sp>
        <p:nvSpPr>
          <p:cNvPr id="3" name="吹き出し: 角を丸めた四角形 2">
            <a:extLst>
              <a:ext uri="{FF2B5EF4-FFF2-40B4-BE49-F238E27FC236}">
                <a16:creationId xmlns:a16="http://schemas.microsoft.com/office/drawing/2014/main" id="{AC92C79E-1F03-5304-F998-7613AE263C0C}"/>
              </a:ext>
            </a:extLst>
          </p:cNvPr>
          <p:cNvSpPr/>
          <p:nvPr/>
        </p:nvSpPr>
        <p:spPr bwMode="auto">
          <a:xfrm>
            <a:off x="545226" y="2095144"/>
            <a:ext cx="892711" cy="556914"/>
          </a:xfrm>
          <a:prstGeom prst="wedgeRoundRectCallout">
            <a:avLst>
              <a:gd name="adj1" fmla="val 67478"/>
              <a:gd name="adj2" fmla="val 19895"/>
              <a:gd name="adj3" fmla="val 166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rPr>
              <a:t>残り</a:t>
            </a:r>
            <a:endParaRPr lang="en-US" altLang="ja-JP" sz="1687" dirty="0">
              <a:solidFill>
                <a:srgbClr val="000000"/>
              </a:solidFill>
              <a:latin typeface="Calibri" pitchFamily="34" charset="0"/>
              <a:ea typeface="メイリオ" pitchFamily="50" charset="-128"/>
              <a:cs typeface="メイリオ" pitchFamily="50" charset="-128"/>
              <a:sym typeface="ヒラギノ角ゴ Pro W3" pitchFamily="-84" charset="-128"/>
            </a:endParaRPr>
          </a:p>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rPr>
              <a:t>時間</a:t>
            </a:r>
          </a:p>
        </p:txBody>
      </p:sp>
      <p:sp>
        <p:nvSpPr>
          <p:cNvPr id="6" name="吹き出し: 角を丸めた四角形 5">
            <a:extLst>
              <a:ext uri="{FF2B5EF4-FFF2-40B4-BE49-F238E27FC236}">
                <a16:creationId xmlns:a16="http://schemas.microsoft.com/office/drawing/2014/main" id="{267FBABF-DCC9-AAF7-6046-23024363C74F}"/>
              </a:ext>
            </a:extLst>
          </p:cNvPr>
          <p:cNvSpPr/>
          <p:nvPr/>
        </p:nvSpPr>
        <p:spPr bwMode="auto">
          <a:xfrm>
            <a:off x="7701451" y="2032050"/>
            <a:ext cx="892711" cy="556914"/>
          </a:xfrm>
          <a:prstGeom prst="wedgeRoundRectCallout">
            <a:avLst>
              <a:gd name="adj1" fmla="val -81708"/>
              <a:gd name="adj2" fmla="val 11649"/>
              <a:gd name="adj3" fmla="val 166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rPr>
              <a:t>財布</a:t>
            </a:r>
            <a:endParaRPr lang="en-US" altLang="ja-JP" sz="1687" dirty="0">
              <a:solidFill>
                <a:srgbClr val="000000"/>
              </a:solidFill>
              <a:latin typeface="Calibri" pitchFamily="34" charset="0"/>
              <a:ea typeface="メイリオ" pitchFamily="50" charset="-128"/>
              <a:cs typeface="メイリオ" pitchFamily="50" charset="-128"/>
              <a:sym typeface="ヒラギノ角ゴ Pro W3" pitchFamily="-84" charset="-128"/>
            </a:endParaRPr>
          </a:p>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rPr>
              <a:t>残高</a:t>
            </a:r>
          </a:p>
        </p:txBody>
      </p:sp>
      <p:sp>
        <p:nvSpPr>
          <p:cNvPr id="9" name="矢印: 下 8">
            <a:extLst>
              <a:ext uri="{FF2B5EF4-FFF2-40B4-BE49-F238E27FC236}">
                <a16:creationId xmlns:a16="http://schemas.microsoft.com/office/drawing/2014/main" id="{35CA2323-4932-23C6-1851-722B07EC650A}"/>
              </a:ext>
            </a:extLst>
          </p:cNvPr>
          <p:cNvSpPr/>
          <p:nvPr/>
        </p:nvSpPr>
        <p:spPr bwMode="auto">
          <a:xfrm rot="12027975">
            <a:off x="3222047" y="2648874"/>
            <a:ext cx="269492" cy="1956952"/>
          </a:xfrm>
          <a:prstGeom prst="downArrow">
            <a:avLst>
              <a:gd name="adj1" fmla="val 13727"/>
              <a:gd name="adj2" fmla="val 100870"/>
            </a:avLst>
          </a:prstGeom>
          <a:solidFill>
            <a:srgbClr val="FF00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endParaRPr lang="ja-JP" altLang="en-US" sz="3094">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sp>
        <p:nvSpPr>
          <p:cNvPr id="21" name="吹き出し: 角を丸めた四角形 20">
            <a:extLst>
              <a:ext uri="{FF2B5EF4-FFF2-40B4-BE49-F238E27FC236}">
                <a16:creationId xmlns:a16="http://schemas.microsoft.com/office/drawing/2014/main" id="{2ADF2F47-069F-3C8A-7FDB-D0E30015D059}"/>
              </a:ext>
            </a:extLst>
          </p:cNvPr>
          <p:cNvSpPr/>
          <p:nvPr/>
        </p:nvSpPr>
        <p:spPr bwMode="auto">
          <a:xfrm>
            <a:off x="1920068" y="4120749"/>
            <a:ext cx="892711" cy="556914"/>
          </a:xfrm>
          <a:prstGeom prst="wedgeRoundRectCallout">
            <a:avLst>
              <a:gd name="adj1" fmla="val 67478"/>
              <a:gd name="adj2" fmla="val 19895"/>
              <a:gd name="adj3" fmla="val 166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rPr>
              <a:t>奥に</a:t>
            </a:r>
            <a:endParaRPr lang="en-US" altLang="ja-JP" sz="1687" dirty="0">
              <a:solidFill>
                <a:srgbClr val="000000"/>
              </a:solidFill>
              <a:latin typeface="Calibri" pitchFamily="34" charset="0"/>
              <a:ea typeface="メイリオ" pitchFamily="50" charset="-128"/>
              <a:cs typeface="メイリオ" pitchFamily="50" charset="-128"/>
              <a:sym typeface="ヒラギノ角ゴ Pro W3" pitchFamily="-84" charset="-128"/>
            </a:endParaRPr>
          </a:p>
          <a:p>
            <a:pPr algn="ctr" defTabSz="642915" fontAlgn="base">
              <a:spcBef>
                <a:spcPct val="0"/>
              </a:spcBef>
              <a:spcAft>
                <a:spcPct val="0"/>
              </a:spcAft>
            </a:pPr>
            <a:r>
              <a:rPr lang="ja-JP" altLang="en-US" sz="1687" dirty="0">
                <a:solidFill>
                  <a:srgbClr val="000000"/>
                </a:solidFill>
                <a:latin typeface="Calibri" pitchFamily="34" charset="0"/>
                <a:ea typeface="メイリオ" pitchFamily="50" charset="-128"/>
                <a:cs typeface="メイリオ" pitchFamily="50" charset="-128"/>
              </a:rPr>
              <a:t>進む</a:t>
            </a:r>
            <a:endParaRPr lang="ja-JP" altLang="en-US" sz="1687" dirty="0">
              <a:solidFill>
                <a:srgbClr val="000000"/>
              </a:solidFill>
              <a:latin typeface="Calibri" pitchFamily="34" charset="0"/>
              <a:ea typeface="メイリオ" pitchFamily="50" charset="-128"/>
              <a:cs typeface="メイリオ" pitchFamily="50" charset="-128"/>
              <a:sym typeface="ヒラギノ角ゴ Pro W3" pitchFamily="-84" charset="-128"/>
            </a:endParaRPr>
          </a:p>
        </p:txBody>
      </p:sp>
      <p:sp>
        <p:nvSpPr>
          <p:cNvPr id="7" name="楕円 6">
            <a:extLst>
              <a:ext uri="{FF2B5EF4-FFF2-40B4-BE49-F238E27FC236}">
                <a16:creationId xmlns:a16="http://schemas.microsoft.com/office/drawing/2014/main" id="{96F0F871-34F6-FB17-3DD6-9A82C1A10E68}"/>
              </a:ext>
            </a:extLst>
          </p:cNvPr>
          <p:cNvSpPr/>
          <p:nvPr/>
        </p:nvSpPr>
        <p:spPr bwMode="auto">
          <a:xfrm>
            <a:off x="6933731" y="188640"/>
            <a:ext cx="1840440" cy="613330"/>
          </a:xfrm>
          <a:prstGeom prst="ellipse">
            <a:avLst/>
          </a:prstGeom>
          <a:solidFill>
            <a:srgbClr val="FF00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ctr" anchorCtr="0" compatLnSpc="1">
            <a:prstTxWarp prst="textNoShape">
              <a:avLst/>
            </a:prstTxWarp>
          </a:bodyPr>
          <a:lstStyle/>
          <a:p>
            <a:pPr algn="ctr" defTabSz="642915" fontAlgn="base">
              <a:spcBef>
                <a:spcPct val="0"/>
              </a:spcBef>
              <a:spcAft>
                <a:spcPct val="0"/>
              </a:spcAft>
            </a:pPr>
            <a:r>
              <a:rPr lang="ja-JP" altLang="en-US" sz="1969" dirty="0">
                <a:solidFill>
                  <a:schemeClr val="bg1"/>
                </a:solidFill>
                <a:latin typeface="HGP創英角ｺﾞｼｯｸUB" panose="020B0900000000000000" pitchFamily="50" charset="-128"/>
                <a:ea typeface="HGP創英角ｺﾞｼｯｸUB" panose="020B0900000000000000" pitchFamily="50" charset="-128"/>
                <a:cs typeface="メイリオ" pitchFamily="50" charset="-128"/>
                <a:sym typeface="ヒラギノ角ゴ Pro W3" pitchFamily="-84" charset="-128"/>
              </a:rPr>
              <a:t>サンプル</a:t>
            </a:r>
          </a:p>
        </p:txBody>
      </p:sp>
    </p:spTree>
    <p:extLst>
      <p:ext uri="{BB962C8B-B14F-4D97-AF65-F5344CB8AC3E}">
        <p14:creationId xmlns:p14="http://schemas.microsoft.com/office/powerpoint/2010/main" val="2147166496"/>
      </p:ext>
    </p:extLst>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45058-E23E-DBBA-0E17-E5B40F2F2806}"/>
            </a:ext>
          </a:extLst>
        </p:cNvPr>
        <p:cNvGrpSpPr/>
        <p:nvPr/>
      </p:nvGrpSpPr>
      <p:grpSpPr>
        <a:xfrm>
          <a:off x="0" y="0"/>
          <a:ext cx="0" cy="0"/>
          <a:chOff x="0" y="0"/>
          <a:chExt cx="0" cy="0"/>
        </a:xfrm>
      </p:grpSpPr>
      <p:sp>
        <p:nvSpPr>
          <p:cNvPr id="12" name="額縁 11">
            <a:extLst>
              <a:ext uri="{FF2B5EF4-FFF2-40B4-BE49-F238E27FC236}">
                <a16:creationId xmlns:a16="http://schemas.microsoft.com/office/drawing/2014/main" id="{14415ACC-B716-33A8-F05A-DD876823DF44}"/>
              </a:ext>
            </a:extLst>
          </p:cNvPr>
          <p:cNvSpPr/>
          <p:nvPr/>
        </p:nvSpPr>
        <p:spPr bwMode="auto">
          <a:xfrm>
            <a:off x="116687" y="340658"/>
            <a:ext cx="7391890" cy="556914"/>
          </a:xfrm>
          <a:prstGeom prst="bevel">
            <a:avLst/>
          </a:prstGeom>
          <a:solidFill>
            <a:srgbClr val="0000FF"/>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r>
              <a:rPr lang="ja-JP" altLang="en-US" sz="2530" dirty="0">
                <a:solidFill>
                  <a:schemeClr val="bg1"/>
                </a:solidFill>
                <a:latin typeface="HGP創英角ｺﾞｼｯｸUB" panose="020B0A00000000000000" pitchFamily="50" charset="-128"/>
                <a:ea typeface="HGP創英角ｺﾞｼｯｸUB" panose="020B0A00000000000000" pitchFamily="50" charset="-128"/>
                <a:cs typeface="メイリオ" pitchFamily="50" charset="-128"/>
              </a:rPr>
              <a:t>ゲーム画面　作成シート❹</a:t>
            </a:r>
          </a:p>
        </p:txBody>
      </p:sp>
      <p:sp>
        <p:nvSpPr>
          <p:cNvPr id="13" name="四角形: 角を丸くする 12">
            <a:extLst>
              <a:ext uri="{FF2B5EF4-FFF2-40B4-BE49-F238E27FC236}">
                <a16:creationId xmlns:a16="http://schemas.microsoft.com/office/drawing/2014/main" id="{2E58A941-C9C0-C95B-1065-F1797F304273}"/>
              </a:ext>
            </a:extLst>
          </p:cNvPr>
          <p:cNvSpPr/>
          <p:nvPr/>
        </p:nvSpPr>
        <p:spPr bwMode="auto">
          <a:xfrm>
            <a:off x="116687" y="1529366"/>
            <a:ext cx="4162460" cy="2453549"/>
          </a:xfrm>
          <a:prstGeom prst="round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endParaRPr lang="ja-JP" altLang="en-US" sz="3093">
              <a:solidFill>
                <a:srgbClr val="000000"/>
              </a:solidFill>
              <a:latin typeface="Calibri" pitchFamily="34" charset="0"/>
              <a:ea typeface="メイリオ" pitchFamily="50" charset="-128"/>
              <a:cs typeface="メイリオ" pitchFamily="50" charset="-128"/>
            </a:endParaRPr>
          </a:p>
        </p:txBody>
      </p:sp>
      <p:sp>
        <p:nvSpPr>
          <p:cNvPr id="2" name="テキスト ボックス 1">
            <a:extLst>
              <a:ext uri="{FF2B5EF4-FFF2-40B4-BE49-F238E27FC236}">
                <a16:creationId xmlns:a16="http://schemas.microsoft.com/office/drawing/2014/main" id="{ED59B891-E6F6-C385-9106-CFD25EFE476A}"/>
              </a:ext>
            </a:extLst>
          </p:cNvPr>
          <p:cNvSpPr txBox="1"/>
          <p:nvPr/>
        </p:nvSpPr>
        <p:spPr>
          <a:xfrm>
            <a:off x="217944" y="958261"/>
            <a:ext cx="8860182" cy="438453"/>
          </a:xfrm>
          <a:prstGeom prst="rect">
            <a:avLst/>
          </a:prstGeom>
          <a:noFill/>
        </p:spPr>
        <p:txBody>
          <a:bodyPr wrap="square" rtlCol="0">
            <a:spAutoFit/>
          </a:bodyPr>
          <a:lstStyle/>
          <a:p>
            <a:pPr algn="l"/>
            <a:r>
              <a:rPr kumimoji="1" lang="ja-JP" altLang="en-US" sz="2249" dirty="0">
                <a:solidFill>
                  <a:srgbClr val="FF0000"/>
                </a:solidFill>
                <a:latin typeface="HGP創英角ｺﾞｼｯｸUB" panose="020B0900000000000000" pitchFamily="50" charset="-128"/>
                <a:ea typeface="HGP創英角ｺﾞｼｯｸUB" panose="020B0900000000000000" pitchFamily="50" charset="-128"/>
              </a:rPr>
              <a:t>ゲーム画面</a:t>
            </a:r>
            <a:r>
              <a:rPr kumimoji="1" lang="ja-JP" altLang="en-US" sz="2249" dirty="0">
                <a:latin typeface="HGP創英角ｺﾞｼｯｸUB" panose="020B0900000000000000" pitchFamily="50" charset="-128"/>
                <a:ea typeface="HGP創英角ｺﾞｼｯｸUB" panose="020B0900000000000000" pitchFamily="50" charset="-128"/>
              </a:rPr>
              <a:t>画像をつくろう！</a:t>
            </a:r>
            <a:r>
              <a:rPr kumimoji="1" lang="ja-JP" altLang="en-US" sz="1600" dirty="0">
                <a:latin typeface="HGP創英角ｺﾞｼｯｸUB" panose="020B0900000000000000" pitchFamily="50" charset="-128"/>
                <a:ea typeface="HGP創英角ｺﾞｼｯｸUB" panose="020B0900000000000000" pitchFamily="50" charset="-128"/>
              </a:rPr>
              <a:t>（視点、</a:t>
            </a:r>
            <a:r>
              <a:rPr kumimoji="1" lang="en-US" altLang="ja-JP" sz="1600" dirty="0">
                <a:latin typeface="HGP創英角ｺﾞｼｯｸUB" panose="020B0900000000000000" pitchFamily="50" charset="-128"/>
                <a:ea typeface="HGP創英角ｺﾞｼｯｸUB" panose="020B0900000000000000" pitchFamily="50" charset="-128"/>
              </a:rPr>
              <a:t>UI</a:t>
            </a:r>
            <a:r>
              <a:rPr kumimoji="1" lang="ja-JP" altLang="en-US" sz="1600" dirty="0">
                <a:latin typeface="HGP創英角ｺﾞｼｯｸUB" panose="020B0900000000000000" pitchFamily="50" charset="-128"/>
                <a:ea typeface="HGP創英角ｺﾞｼｯｸUB" panose="020B0900000000000000" pitchFamily="50" charset="-128"/>
              </a:rPr>
              <a:t>、スクロール方向などがわかるようにしましょう！）</a:t>
            </a:r>
          </a:p>
        </p:txBody>
      </p:sp>
      <p:sp>
        <p:nvSpPr>
          <p:cNvPr id="3" name="四角形: 角を丸くする 2">
            <a:extLst>
              <a:ext uri="{FF2B5EF4-FFF2-40B4-BE49-F238E27FC236}">
                <a16:creationId xmlns:a16="http://schemas.microsoft.com/office/drawing/2014/main" id="{E1868590-8944-DB73-67B2-6B4B391053CE}"/>
              </a:ext>
            </a:extLst>
          </p:cNvPr>
          <p:cNvSpPr/>
          <p:nvPr/>
        </p:nvSpPr>
        <p:spPr bwMode="auto">
          <a:xfrm>
            <a:off x="116687" y="4246119"/>
            <a:ext cx="4162460" cy="2453549"/>
          </a:xfrm>
          <a:prstGeom prst="round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endParaRPr lang="ja-JP" altLang="en-US" sz="3093">
              <a:solidFill>
                <a:srgbClr val="000000"/>
              </a:solidFill>
              <a:latin typeface="Calibri" pitchFamily="34" charset="0"/>
              <a:ea typeface="メイリオ" pitchFamily="50" charset="-128"/>
              <a:cs typeface="メイリオ" pitchFamily="50" charset="-128"/>
            </a:endParaRPr>
          </a:p>
        </p:txBody>
      </p:sp>
      <p:sp>
        <p:nvSpPr>
          <p:cNvPr id="5" name="四角形: 角を丸くする 4">
            <a:extLst>
              <a:ext uri="{FF2B5EF4-FFF2-40B4-BE49-F238E27FC236}">
                <a16:creationId xmlns:a16="http://schemas.microsoft.com/office/drawing/2014/main" id="{CB24F249-CF28-EE6E-DCF7-740E31778313}"/>
              </a:ext>
            </a:extLst>
          </p:cNvPr>
          <p:cNvSpPr/>
          <p:nvPr/>
        </p:nvSpPr>
        <p:spPr bwMode="auto">
          <a:xfrm>
            <a:off x="4761956" y="2684019"/>
            <a:ext cx="4162460" cy="3101319"/>
          </a:xfrm>
          <a:prstGeom prst="round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1" tIns="32146" rIns="64291" bIns="32146" numCol="1" rtlCol="0" anchor="t" anchorCtr="0" compatLnSpc="1">
            <a:prstTxWarp prst="textNoShape">
              <a:avLst/>
            </a:prstTxWarp>
          </a:bodyPr>
          <a:lstStyle/>
          <a:p>
            <a:pPr defTabSz="642850"/>
            <a:endParaRPr lang="ja-JP" altLang="en-US" sz="3093">
              <a:solidFill>
                <a:srgbClr val="000000"/>
              </a:solidFill>
              <a:latin typeface="Calibri" pitchFamily="34" charset="0"/>
              <a:ea typeface="メイリオ" pitchFamily="50" charset="-128"/>
              <a:cs typeface="メイリオ" pitchFamily="50" charset="-128"/>
            </a:endParaRPr>
          </a:p>
        </p:txBody>
      </p:sp>
      <p:sp>
        <p:nvSpPr>
          <p:cNvPr id="6" name="四角形: 角を丸くする 5">
            <a:extLst>
              <a:ext uri="{FF2B5EF4-FFF2-40B4-BE49-F238E27FC236}">
                <a16:creationId xmlns:a16="http://schemas.microsoft.com/office/drawing/2014/main" id="{924A239E-FDF8-DC27-C2C3-6F38DA303CB3}"/>
              </a:ext>
            </a:extLst>
          </p:cNvPr>
          <p:cNvSpPr/>
          <p:nvPr/>
        </p:nvSpPr>
        <p:spPr bwMode="auto">
          <a:xfrm>
            <a:off x="1340559" y="3877408"/>
            <a:ext cx="2938588" cy="351521"/>
          </a:xfrm>
          <a:prstGeom prst="roundRect">
            <a:avLst/>
          </a:prstGeom>
          <a:solidFill>
            <a:srgbClr val="FFFF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ctr"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ゲーム開始時画面</a:t>
            </a:r>
            <a:endPar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endParaRPr>
          </a:p>
        </p:txBody>
      </p:sp>
      <p:sp>
        <p:nvSpPr>
          <p:cNvPr id="7" name="四角形: 角を丸くする 6">
            <a:extLst>
              <a:ext uri="{FF2B5EF4-FFF2-40B4-BE49-F238E27FC236}">
                <a16:creationId xmlns:a16="http://schemas.microsoft.com/office/drawing/2014/main" id="{96235BD9-7E1C-AE6F-D501-C787CED9E165}"/>
              </a:ext>
            </a:extLst>
          </p:cNvPr>
          <p:cNvSpPr/>
          <p:nvPr/>
        </p:nvSpPr>
        <p:spPr bwMode="auto">
          <a:xfrm>
            <a:off x="1340559" y="6506479"/>
            <a:ext cx="2938588" cy="351521"/>
          </a:xfrm>
          <a:prstGeom prst="roundRect">
            <a:avLst/>
          </a:prstGeom>
          <a:solidFill>
            <a:srgbClr val="FFFF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ctr"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リザルト画面</a:t>
            </a:r>
            <a:endPar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endParaRPr>
          </a:p>
        </p:txBody>
      </p:sp>
      <p:sp>
        <p:nvSpPr>
          <p:cNvPr id="8" name="四角形: 角を丸くする 7">
            <a:extLst>
              <a:ext uri="{FF2B5EF4-FFF2-40B4-BE49-F238E27FC236}">
                <a16:creationId xmlns:a16="http://schemas.microsoft.com/office/drawing/2014/main" id="{238213AB-5681-F6D7-2AB2-6F6F285EADD3}"/>
              </a:ext>
            </a:extLst>
          </p:cNvPr>
          <p:cNvSpPr/>
          <p:nvPr/>
        </p:nvSpPr>
        <p:spPr bwMode="auto">
          <a:xfrm>
            <a:off x="5855677" y="2285539"/>
            <a:ext cx="3171636" cy="351521"/>
          </a:xfrm>
          <a:prstGeom prst="roundRect">
            <a:avLst/>
          </a:prstGeom>
          <a:solidFill>
            <a:srgbClr val="FFFF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ctr"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rPr>
              <a:t>テンションあがる画面</a:t>
            </a:r>
            <a:endParaRPr lang="en-US" altLang="ja-JP" sz="2250"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sym typeface="ヒラギノ角ゴ Pro W3" pitchFamily="-84" charset="-128"/>
            </a:endParaRPr>
          </a:p>
        </p:txBody>
      </p:sp>
    </p:spTree>
    <p:extLst>
      <p:ext uri="{BB962C8B-B14F-4D97-AF65-F5344CB8AC3E}">
        <p14:creationId xmlns:p14="http://schemas.microsoft.com/office/powerpoint/2010/main" val="3121092848"/>
      </p:ext>
    </p:extLst>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額縁 5"/>
          <p:cNvSpPr/>
          <p:nvPr/>
        </p:nvSpPr>
        <p:spPr bwMode="auto">
          <a:xfrm>
            <a:off x="65874" y="427994"/>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rPr>
              <a:t>今回の制作課題</a:t>
            </a:r>
            <a:endPar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endParaRP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12</a:t>
            </a:fld>
            <a:endParaRPr lang="en-US" altLang="ja-JP"/>
          </a:p>
        </p:txBody>
      </p:sp>
      <p:sp>
        <p:nvSpPr>
          <p:cNvPr id="3" name="四角形: 角を丸くする 2">
            <a:extLst>
              <a:ext uri="{FF2B5EF4-FFF2-40B4-BE49-F238E27FC236}">
                <a16:creationId xmlns:a16="http://schemas.microsoft.com/office/drawing/2014/main" id="{BD35053A-3579-C4DB-D5A3-7DF4490C46B6}"/>
              </a:ext>
            </a:extLst>
          </p:cNvPr>
          <p:cNvSpPr/>
          <p:nvPr/>
        </p:nvSpPr>
        <p:spPr bwMode="auto">
          <a:xfrm>
            <a:off x="205097" y="1182624"/>
            <a:ext cx="3592478" cy="454451"/>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sym typeface="ヒラギノ角ゴ Pro W3" pitchFamily="-84" charset="-128"/>
              </a:rPr>
              <a:t>制作ルール</a:t>
            </a:r>
          </a:p>
        </p:txBody>
      </p:sp>
      <p:sp>
        <p:nvSpPr>
          <p:cNvPr id="5" name="テキスト ボックス 4">
            <a:extLst>
              <a:ext uri="{FF2B5EF4-FFF2-40B4-BE49-F238E27FC236}">
                <a16:creationId xmlns:a16="http://schemas.microsoft.com/office/drawing/2014/main" id="{C2854FE5-1C7A-F887-F8F0-2C364B74C6BA}"/>
              </a:ext>
            </a:extLst>
          </p:cNvPr>
          <p:cNvSpPr txBox="1"/>
          <p:nvPr/>
        </p:nvSpPr>
        <p:spPr>
          <a:xfrm>
            <a:off x="221094" y="1834768"/>
            <a:ext cx="8502617" cy="2169825"/>
          </a:xfrm>
          <a:prstGeom prst="rect">
            <a:avLst/>
          </a:prstGeom>
          <a:noFill/>
        </p:spPr>
        <p:txBody>
          <a:bodyPr wrap="square" rtlCol="0">
            <a:spAutoFit/>
          </a:bodyPr>
          <a:lstStyle/>
          <a:p>
            <a:pPr algn="l"/>
            <a:r>
              <a:rPr kumimoji="1" lang="ja-JP" altLang="en-US" sz="2250" dirty="0">
                <a:latin typeface="HGP創英角ｺﾞｼｯｸUB" panose="020B0900000000000000" pitchFamily="50" charset="-128"/>
                <a:ea typeface="HGP創英角ｺﾞｼｯｸUB" panose="020B0900000000000000" pitchFamily="50" charset="-128"/>
              </a:rPr>
              <a:t>①決められたゲームジャンルのみで開発</a:t>
            </a:r>
            <a:endParaRPr kumimoji="1" lang="en-US" altLang="ja-JP" sz="2250" dirty="0">
              <a:latin typeface="HGP創英角ｺﾞｼｯｸUB" panose="020B0900000000000000" pitchFamily="50" charset="-128"/>
              <a:ea typeface="HGP創英角ｺﾞｼｯｸUB" panose="020B0900000000000000" pitchFamily="50" charset="-128"/>
            </a:endParaRPr>
          </a:p>
          <a:p>
            <a:pPr algn="l"/>
            <a:r>
              <a:rPr kumimoji="1" lang="ja-JP" altLang="en-US" sz="2250" dirty="0">
                <a:latin typeface="HGP創英角ｺﾞｼｯｸUB" panose="020B0900000000000000" pitchFamily="50" charset="-128"/>
                <a:ea typeface="HGP創英角ｺﾞｼｯｸUB" panose="020B0900000000000000" pitchFamily="50" charset="-128"/>
              </a:rPr>
              <a:t>②できれば１人用でライバルや敵がいる</a:t>
            </a:r>
            <a:endParaRPr kumimoji="1" lang="en-US" altLang="ja-JP" sz="2250" dirty="0">
              <a:latin typeface="HGP創英角ｺﾞｼｯｸUB" panose="020B0900000000000000" pitchFamily="50" charset="-128"/>
              <a:ea typeface="HGP創英角ｺﾞｼｯｸUB" panose="020B0900000000000000" pitchFamily="50" charset="-128"/>
            </a:endParaRPr>
          </a:p>
          <a:p>
            <a:pPr algn="l"/>
            <a:r>
              <a:rPr kumimoji="1" lang="ja-JP" altLang="en-US" sz="2250" dirty="0">
                <a:latin typeface="HGP創英角ｺﾞｼｯｸUB" panose="020B0900000000000000" pitchFamily="50" charset="-128"/>
                <a:ea typeface="HGP創英角ｺﾞｼｯｸUB" panose="020B0900000000000000" pitchFamily="50" charset="-128"/>
              </a:rPr>
              <a:t>　場合は、</a:t>
            </a:r>
            <a:r>
              <a:rPr kumimoji="1" lang="en-US" altLang="ja-JP" sz="2250" dirty="0">
                <a:latin typeface="HGP創英角ｺﾞｼｯｸUB" panose="020B0900000000000000" pitchFamily="50" charset="-128"/>
                <a:ea typeface="HGP創英角ｺﾞｼｯｸUB" panose="020B0900000000000000" pitchFamily="50" charset="-128"/>
              </a:rPr>
              <a:t>AI</a:t>
            </a:r>
            <a:r>
              <a:rPr kumimoji="1" lang="ja-JP" altLang="en-US" sz="2250" dirty="0">
                <a:latin typeface="HGP創英角ｺﾞｼｯｸUB" panose="020B0900000000000000" pitchFamily="50" charset="-128"/>
                <a:ea typeface="HGP創英角ｺﾞｼｯｸUB" panose="020B0900000000000000" pitchFamily="50" charset="-128"/>
              </a:rPr>
              <a:t>を作ってください</a:t>
            </a:r>
            <a:endParaRPr kumimoji="1" lang="en-US" altLang="ja-JP" sz="2250" dirty="0">
              <a:latin typeface="HGP創英角ｺﾞｼｯｸUB" panose="020B0900000000000000" pitchFamily="50" charset="-128"/>
              <a:ea typeface="HGP創英角ｺﾞｼｯｸUB" panose="020B0900000000000000" pitchFamily="50" charset="-128"/>
            </a:endParaRPr>
          </a:p>
          <a:p>
            <a:pPr algn="l"/>
            <a:r>
              <a:rPr kumimoji="1" lang="ja-JP" altLang="en-US" sz="2250" dirty="0">
                <a:latin typeface="HGP創英角ｺﾞｼｯｸUB" panose="020B0900000000000000" pitchFamily="50" charset="-128"/>
                <a:ea typeface="HGP創英角ｺﾞｼｯｸUB" panose="020B0900000000000000" pitchFamily="50" charset="-128"/>
              </a:rPr>
              <a:t>③</a:t>
            </a:r>
            <a:r>
              <a:rPr kumimoji="1" lang="ja-JP" altLang="en-US" sz="2250" dirty="0">
                <a:solidFill>
                  <a:srgbClr val="FF0000"/>
                </a:solidFill>
                <a:latin typeface="HGP創英角ｺﾞｼｯｸUB" panose="020B0900000000000000" pitchFamily="50" charset="-128"/>
                <a:ea typeface="HGP創英角ｺﾞｼｯｸUB" panose="020B0900000000000000" pitchFamily="50" charset="-128"/>
              </a:rPr>
              <a:t>必ず　マンジャロ　は、なんらかの表現で登場すること</a:t>
            </a:r>
            <a:endParaRPr kumimoji="1" lang="en-US" altLang="ja-JP" sz="2250" dirty="0">
              <a:solidFill>
                <a:srgbClr val="FF0000"/>
              </a:solidFill>
              <a:latin typeface="HGP創英角ｺﾞｼｯｸUB" panose="020B0900000000000000" pitchFamily="50" charset="-128"/>
              <a:ea typeface="HGP創英角ｺﾞｼｯｸUB" panose="020B0900000000000000" pitchFamily="50" charset="-128"/>
            </a:endParaRPr>
          </a:p>
          <a:p>
            <a:pPr algn="l"/>
            <a:r>
              <a:rPr kumimoji="1" lang="ja-JP" altLang="en-US" sz="2250" dirty="0">
                <a:latin typeface="HGP創英角ｺﾞｼｯｸUB" panose="020B0900000000000000" pitchFamily="50" charset="-128"/>
                <a:ea typeface="HGP創英角ｺﾞｼｯｸUB" panose="020B0900000000000000" pitchFamily="50" charset="-128"/>
              </a:rPr>
              <a:t>④２</a:t>
            </a:r>
            <a:r>
              <a:rPr kumimoji="1" lang="en-US" altLang="ja-JP" sz="2250" dirty="0">
                <a:latin typeface="HGP創英角ｺﾞｼｯｸUB" panose="020B0900000000000000" pitchFamily="50" charset="-128"/>
                <a:ea typeface="HGP創英角ｺﾞｼｯｸUB" panose="020B0900000000000000" pitchFamily="50" charset="-128"/>
              </a:rPr>
              <a:t>D,</a:t>
            </a:r>
            <a:r>
              <a:rPr kumimoji="1" lang="ja-JP" altLang="en-US" sz="2250" dirty="0">
                <a:latin typeface="HGP創英角ｺﾞｼｯｸUB" panose="020B0900000000000000" pitchFamily="50" charset="-128"/>
                <a:ea typeface="HGP創英角ｺﾞｼｯｸUB" panose="020B0900000000000000" pitchFamily="50" charset="-128"/>
              </a:rPr>
              <a:t>３</a:t>
            </a:r>
            <a:r>
              <a:rPr kumimoji="1" lang="en-US" altLang="ja-JP" sz="2250" dirty="0">
                <a:latin typeface="HGP創英角ｺﾞｼｯｸUB" panose="020B0900000000000000" pitchFamily="50" charset="-128"/>
                <a:ea typeface="HGP創英角ｺﾞｼｯｸUB" panose="020B0900000000000000" pitchFamily="50" charset="-128"/>
              </a:rPr>
              <a:t>D</a:t>
            </a:r>
            <a:r>
              <a:rPr kumimoji="1" lang="ja-JP" altLang="en-US" sz="2250" dirty="0">
                <a:latin typeface="HGP創英角ｺﾞｼｯｸUB" panose="020B0900000000000000" pitchFamily="50" charset="-128"/>
                <a:ea typeface="HGP創英角ｺﾞｼｯｸUB" panose="020B0900000000000000" pitchFamily="50" charset="-128"/>
              </a:rPr>
              <a:t>、いずれでもかまいません</a:t>
            </a:r>
            <a:endParaRPr kumimoji="1" lang="en-US" altLang="ja-JP" sz="2250" dirty="0">
              <a:solidFill>
                <a:srgbClr val="0000FF"/>
              </a:solidFill>
              <a:latin typeface="HGP創英角ｺﾞｼｯｸUB" panose="020B0900000000000000" pitchFamily="50" charset="-128"/>
              <a:ea typeface="HGP創英角ｺﾞｼｯｸUB" panose="020B0900000000000000" pitchFamily="50" charset="-128"/>
            </a:endParaRPr>
          </a:p>
          <a:p>
            <a:pPr algn="l"/>
            <a:r>
              <a:rPr kumimoji="1" lang="ja-JP" altLang="en-US" sz="2250" dirty="0">
                <a:solidFill>
                  <a:srgbClr val="0000FF"/>
                </a:solidFill>
                <a:latin typeface="HGP創英角ｺﾞｼｯｸUB" panose="020B0900000000000000" pitchFamily="50" charset="-128"/>
                <a:ea typeface="HGP創英角ｺﾞｼｯｸUB" panose="020B0900000000000000" pitchFamily="50" charset="-128"/>
              </a:rPr>
              <a:t>⑤必ず、勝敗やゲームオーバーをつくってください！</a:t>
            </a:r>
            <a:endParaRPr kumimoji="1" lang="en-US" altLang="ja-JP" sz="2250" dirty="0">
              <a:solidFill>
                <a:srgbClr val="0000FF"/>
              </a:solidFill>
              <a:latin typeface="HGP創英角ｺﾞｼｯｸUB" panose="020B0900000000000000" pitchFamily="50" charset="-128"/>
              <a:ea typeface="HGP創英角ｺﾞｼｯｸUB" panose="020B0900000000000000" pitchFamily="50" charset="-128"/>
            </a:endParaRPr>
          </a:p>
        </p:txBody>
      </p:sp>
    </p:spTree>
    <p:extLst>
      <p:ext uri="{BB962C8B-B14F-4D97-AF65-F5344CB8AC3E}">
        <p14:creationId xmlns:p14="http://schemas.microsoft.com/office/powerpoint/2010/main" val="115908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額縁 5"/>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rPr>
              <a:t>視点を決めよう！</a:t>
            </a:r>
          </a:p>
        </p:txBody>
      </p:sp>
      <p:sp>
        <p:nvSpPr>
          <p:cNvPr id="9" name="テキスト ボックス 8"/>
          <p:cNvSpPr txBox="1"/>
          <p:nvPr/>
        </p:nvSpPr>
        <p:spPr>
          <a:xfrm>
            <a:off x="360269" y="925250"/>
            <a:ext cx="8607206" cy="676660"/>
          </a:xfrm>
          <a:prstGeom prst="rect">
            <a:avLst/>
          </a:prstGeom>
          <a:noFill/>
        </p:spPr>
        <p:txBody>
          <a:bodyPr wrap="square" rtlCol="0">
            <a:spAutoFit/>
          </a:bodyPr>
          <a:lstStyle/>
          <a:p>
            <a:r>
              <a:rPr kumimoji="1" lang="ja-JP" altLang="en-US" sz="3797" dirty="0">
                <a:solidFill>
                  <a:srgbClr val="FF0000"/>
                </a:solidFill>
                <a:latin typeface="HGS創英角ｺﾞｼｯｸUB" panose="020B0900000000000000" pitchFamily="50" charset="-128"/>
                <a:ea typeface="HGS創英角ｺﾞｼｯｸUB" panose="020B0900000000000000" pitchFamily="50" charset="-128"/>
              </a:rPr>
              <a:t>視点</a:t>
            </a:r>
            <a:r>
              <a:rPr kumimoji="1" lang="ja-JP" altLang="en-US" sz="3797" dirty="0">
                <a:latin typeface="HGS創英角ｺﾞｼｯｸUB" panose="020B0900000000000000" pitchFamily="50" charset="-128"/>
                <a:ea typeface="HGS創英角ｺﾞｼｯｸUB" panose="020B0900000000000000" pitchFamily="50" charset="-128"/>
              </a:rPr>
              <a:t>を決めましょう！</a:t>
            </a:r>
            <a:endParaRPr kumimoji="1" lang="en-US" altLang="ja-JP" sz="3797" dirty="0">
              <a:latin typeface="HGS創英角ｺﾞｼｯｸUB" panose="020B0900000000000000" pitchFamily="50" charset="-128"/>
              <a:ea typeface="HGS創英角ｺﾞｼｯｸUB" panose="020B0900000000000000" pitchFamily="50" charset="-128"/>
            </a:endParaRP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13</a:t>
            </a:fld>
            <a:endParaRPr lang="en-US" altLang="ja-JP"/>
          </a:p>
        </p:txBody>
      </p:sp>
      <p:pic>
        <p:nvPicPr>
          <p:cNvPr id="8" name="図 7" descr="おもちゃ, テーブル, レゴ, ケーキ が含まれている画像&#10;&#10;自動的に生成された説明">
            <a:extLst>
              <a:ext uri="{FF2B5EF4-FFF2-40B4-BE49-F238E27FC236}">
                <a16:creationId xmlns:a16="http://schemas.microsoft.com/office/drawing/2014/main" id="{C791EA2E-7702-9866-DAD5-EEA02E2AB6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3436" y="2050546"/>
            <a:ext cx="2249161" cy="3993409"/>
          </a:xfrm>
          <a:prstGeom prst="rect">
            <a:avLst/>
          </a:prstGeom>
        </p:spPr>
      </p:pic>
      <p:pic>
        <p:nvPicPr>
          <p:cNvPr id="4" name="図 3" descr="草, 建物, 敷物, 大きい が含まれている画像&#10;&#10;AI 生成コンテンツは誤りを含む可能性があります。">
            <a:extLst>
              <a:ext uri="{FF2B5EF4-FFF2-40B4-BE49-F238E27FC236}">
                <a16:creationId xmlns:a16="http://schemas.microsoft.com/office/drawing/2014/main" id="{1C659340-420C-CDD9-DE98-20B28CFB72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6464" y="4655528"/>
            <a:ext cx="3846481" cy="2163645"/>
          </a:xfrm>
          <a:prstGeom prst="rect">
            <a:avLst/>
          </a:prstGeom>
        </p:spPr>
      </p:pic>
      <p:pic>
        <p:nvPicPr>
          <p:cNvPr id="10" name="図 9" descr="カラフル, 写真, テーブル, 多い が含まれている画像&#10;&#10;AI 生成コンテンツは誤りを含む可能性があります。">
            <a:extLst>
              <a:ext uri="{FF2B5EF4-FFF2-40B4-BE49-F238E27FC236}">
                <a16:creationId xmlns:a16="http://schemas.microsoft.com/office/drawing/2014/main" id="{2D149286-19F6-53F8-F892-AD6F108586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097" y="1786991"/>
            <a:ext cx="3697357" cy="2773018"/>
          </a:xfrm>
          <a:prstGeom prst="rect">
            <a:avLst/>
          </a:prstGeom>
        </p:spPr>
      </p:pic>
      <p:sp>
        <p:nvSpPr>
          <p:cNvPr id="11" name="星: 32 pt 10">
            <a:extLst>
              <a:ext uri="{FF2B5EF4-FFF2-40B4-BE49-F238E27FC236}">
                <a16:creationId xmlns:a16="http://schemas.microsoft.com/office/drawing/2014/main" id="{D3896112-2819-6024-A50E-063BB4C3B964}"/>
              </a:ext>
            </a:extLst>
          </p:cNvPr>
          <p:cNvSpPr/>
          <p:nvPr/>
        </p:nvSpPr>
        <p:spPr bwMode="auto">
          <a:xfrm>
            <a:off x="3431503" y="1976870"/>
            <a:ext cx="3442883" cy="2025225"/>
          </a:xfrm>
          <a:prstGeom prst="star32">
            <a:avLst/>
          </a:prstGeom>
          <a:solidFill>
            <a:srgbClr val="FFFF0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algn="ctr" defTabSz="642915" fontAlgn="base">
              <a:spcBef>
                <a:spcPct val="0"/>
              </a:spcBef>
              <a:spcAft>
                <a:spcPct val="0"/>
              </a:spcAft>
            </a:pPr>
            <a:r>
              <a:rPr lang="ja-JP" altLang="en-US" sz="2250" dirty="0">
                <a:solidFill>
                  <a:srgbClr val="000000"/>
                </a:solidFill>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cs typeface="メイリオ" pitchFamily="50" charset="-128"/>
              </a:rPr>
              <a:t>カメラの角度は</a:t>
            </a:r>
            <a:endParaRPr lang="en-US" altLang="ja-JP" sz="2250" dirty="0">
              <a:solidFill>
                <a:srgbClr val="000000"/>
              </a:solidFill>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cs typeface="メイリオ" pitchFamily="50" charset="-128"/>
            </a:endParaRPr>
          </a:p>
          <a:p>
            <a:pPr algn="ctr" defTabSz="642915" fontAlgn="base">
              <a:spcBef>
                <a:spcPct val="0"/>
              </a:spcBef>
              <a:spcAft>
                <a:spcPct val="0"/>
              </a:spcAft>
            </a:pPr>
            <a:r>
              <a:rPr lang="ja-JP" altLang="en-US" sz="2250" dirty="0">
                <a:solidFill>
                  <a:srgbClr val="000000"/>
                </a:solidFill>
                <a:effectLst>
                  <a:outerShdw blurRad="38100" dist="38100" dir="2700000" algn="tl">
                    <a:srgbClr val="000000">
                      <a:alpha val="43137"/>
                    </a:srgbClr>
                  </a:outerShdw>
                </a:effectLst>
                <a:latin typeface="HGP創英角ｺﾞｼｯｸUB" panose="020B0900000000000000" pitchFamily="50" charset="-128"/>
                <a:ea typeface="HGP創英角ｺﾞｼｯｸUB" panose="020B0900000000000000" pitchFamily="50" charset="-128"/>
                <a:cs typeface="メイリオ" pitchFamily="50" charset="-128"/>
                <a:sym typeface="ヒラギノ角ゴ Pro W3" pitchFamily="-84" charset="-128"/>
              </a:rPr>
              <a:t>いろいろある</a:t>
            </a:r>
          </a:p>
        </p:txBody>
      </p:sp>
    </p:spTree>
    <p:extLst>
      <p:ext uri="{BB962C8B-B14F-4D97-AF65-F5344CB8AC3E}">
        <p14:creationId xmlns:p14="http://schemas.microsoft.com/office/powerpoint/2010/main" val="4225033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額縁 5"/>
          <p:cNvSpPr/>
          <p:nvPr/>
        </p:nvSpPr>
        <p:spPr bwMode="auto">
          <a:xfrm>
            <a:off x="65874" y="340532"/>
            <a:ext cx="8657837" cy="556937"/>
          </a:xfrm>
          <a:prstGeom prst="bevel">
            <a:avLst/>
          </a:prstGeom>
          <a:solidFill>
            <a:srgbClr val="006600"/>
          </a:solidFill>
          <a:ln>
            <a:solidFill>
              <a:schemeClr val="accent3"/>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64294" tIns="32147" rIns="64294" bIns="32147" numCol="1" rtlCol="0" anchor="t" anchorCtr="0" compatLnSpc="1">
            <a:prstTxWarp prst="textNoShape">
              <a:avLst/>
            </a:prstTxWarp>
          </a:bodyPr>
          <a:lstStyle/>
          <a:p>
            <a:pPr defTabSz="642915" fontAlgn="base">
              <a:spcBef>
                <a:spcPct val="0"/>
              </a:spcBef>
              <a:spcAft>
                <a:spcPct val="0"/>
              </a:spcAft>
            </a:pPr>
            <a:r>
              <a:rPr lang="ja-JP" altLang="en-US" sz="2531" dirty="0">
                <a:solidFill>
                  <a:schemeClr val="bg1"/>
                </a:solidFill>
                <a:latin typeface="HGP行書体" panose="03000600000000000000" pitchFamily="66" charset="-128"/>
                <a:ea typeface="HGP行書体" panose="03000600000000000000" pitchFamily="66" charset="-128"/>
                <a:cs typeface="メイリオ" pitchFamily="50" charset="-128"/>
                <a:sym typeface="ヒラギノ角ゴ Pro W3" pitchFamily="-84" charset="-128"/>
              </a:rPr>
              <a:t>視点の決定</a:t>
            </a:r>
          </a:p>
        </p:txBody>
      </p:sp>
      <p:sp>
        <p:nvSpPr>
          <p:cNvPr id="2" name="スライド番号プレースホルダー 1"/>
          <p:cNvSpPr>
            <a:spLocks noGrp="1"/>
          </p:cNvSpPr>
          <p:nvPr>
            <p:ph type="sldNum" sz="quarter" idx="10"/>
          </p:nvPr>
        </p:nvSpPr>
        <p:spPr/>
        <p:txBody>
          <a:bodyPr/>
          <a:lstStyle/>
          <a:p>
            <a:pPr>
              <a:defRPr/>
            </a:pPr>
            <a:fld id="{90303C1F-567D-4446-A625-F0737271D35A}" type="slidenum">
              <a:rPr lang="ja-JP" altLang="en-US" smtClean="0"/>
              <a:pPr>
                <a:defRPr/>
              </a:pPr>
              <a:t>14</a:t>
            </a:fld>
            <a:endParaRPr lang="en-US" altLang="ja-JP"/>
          </a:p>
        </p:txBody>
      </p:sp>
      <p:sp>
        <p:nvSpPr>
          <p:cNvPr id="3" name="正方形/長方形 2">
            <a:extLst>
              <a:ext uri="{FF2B5EF4-FFF2-40B4-BE49-F238E27FC236}">
                <a16:creationId xmlns:a16="http://schemas.microsoft.com/office/drawing/2014/main" id="{B51D4ED3-B304-97D6-167E-64EF5692B5A2}"/>
              </a:ext>
            </a:extLst>
          </p:cNvPr>
          <p:cNvSpPr/>
          <p:nvPr/>
        </p:nvSpPr>
        <p:spPr bwMode="auto">
          <a:xfrm>
            <a:off x="2445514" y="1359069"/>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真上？</a:t>
            </a:r>
          </a:p>
        </p:txBody>
      </p:sp>
      <p:sp>
        <p:nvSpPr>
          <p:cNvPr id="4" name="四角形: 角を丸くする 32">
            <a:extLst>
              <a:ext uri="{FF2B5EF4-FFF2-40B4-BE49-F238E27FC236}">
                <a16:creationId xmlns:a16="http://schemas.microsoft.com/office/drawing/2014/main" id="{5447EBB6-393E-E73B-FDA0-B25032537647}"/>
              </a:ext>
            </a:extLst>
          </p:cNvPr>
          <p:cNvSpPr/>
          <p:nvPr/>
        </p:nvSpPr>
        <p:spPr bwMode="auto">
          <a:xfrm>
            <a:off x="65874" y="1238051"/>
            <a:ext cx="2278378" cy="1026444"/>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視点は？</a:t>
            </a:r>
          </a:p>
        </p:txBody>
      </p:sp>
      <p:sp>
        <p:nvSpPr>
          <p:cNvPr id="7" name="正方形/長方形 6">
            <a:extLst>
              <a:ext uri="{FF2B5EF4-FFF2-40B4-BE49-F238E27FC236}">
                <a16:creationId xmlns:a16="http://schemas.microsoft.com/office/drawing/2014/main" id="{5216DE84-A24B-0702-0890-055D4EC295B1}"/>
              </a:ext>
            </a:extLst>
          </p:cNvPr>
          <p:cNvSpPr/>
          <p:nvPr/>
        </p:nvSpPr>
        <p:spPr bwMode="auto">
          <a:xfrm>
            <a:off x="4576317" y="1370308"/>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俯瞰？</a:t>
            </a:r>
          </a:p>
        </p:txBody>
      </p:sp>
      <p:sp>
        <p:nvSpPr>
          <p:cNvPr id="8" name="正方形/長方形 7">
            <a:extLst>
              <a:ext uri="{FF2B5EF4-FFF2-40B4-BE49-F238E27FC236}">
                <a16:creationId xmlns:a16="http://schemas.microsoft.com/office/drawing/2014/main" id="{05B03F33-FE3A-00A6-9925-90D383F3E179}"/>
              </a:ext>
            </a:extLst>
          </p:cNvPr>
          <p:cNvSpPr/>
          <p:nvPr/>
        </p:nvSpPr>
        <p:spPr bwMode="auto">
          <a:xfrm>
            <a:off x="6707121" y="1386184"/>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1125"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その他</a:t>
            </a:r>
          </a:p>
        </p:txBody>
      </p:sp>
      <p:sp>
        <p:nvSpPr>
          <p:cNvPr id="10" name="正方形/長方形 9">
            <a:extLst>
              <a:ext uri="{FF2B5EF4-FFF2-40B4-BE49-F238E27FC236}">
                <a16:creationId xmlns:a16="http://schemas.microsoft.com/office/drawing/2014/main" id="{43D65A65-718B-9EFB-5A22-6EB4A1DD1869}"/>
              </a:ext>
            </a:extLst>
          </p:cNvPr>
          <p:cNvSpPr/>
          <p:nvPr/>
        </p:nvSpPr>
        <p:spPr bwMode="auto">
          <a:xfrm>
            <a:off x="2445514" y="3146699"/>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全体図？</a:t>
            </a:r>
          </a:p>
        </p:txBody>
      </p:sp>
      <p:sp>
        <p:nvSpPr>
          <p:cNvPr id="11" name="四角形: 角を丸くする 32">
            <a:extLst>
              <a:ext uri="{FF2B5EF4-FFF2-40B4-BE49-F238E27FC236}">
                <a16:creationId xmlns:a16="http://schemas.microsoft.com/office/drawing/2014/main" id="{73D70D91-87DA-618A-A472-3A2ED5E9A464}"/>
              </a:ext>
            </a:extLst>
          </p:cNvPr>
          <p:cNvSpPr/>
          <p:nvPr/>
        </p:nvSpPr>
        <p:spPr bwMode="auto">
          <a:xfrm>
            <a:off x="65874" y="3025681"/>
            <a:ext cx="2278378" cy="1026444"/>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カメラは？</a:t>
            </a:r>
          </a:p>
        </p:txBody>
      </p:sp>
      <p:sp>
        <p:nvSpPr>
          <p:cNvPr id="12" name="正方形/長方形 11">
            <a:extLst>
              <a:ext uri="{FF2B5EF4-FFF2-40B4-BE49-F238E27FC236}">
                <a16:creationId xmlns:a16="http://schemas.microsoft.com/office/drawing/2014/main" id="{EBFBE013-CEE6-7094-EAE5-F796C93A5B19}"/>
              </a:ext>
            </a:extLst>
          </p:cNvPr>
          <p:cNvSpPr/>
          <p:nvPr/>
        </p:nvSpPr>
        <p:spPr bwMode="auto">
          <a:xfrm>
            <a:off x="4576317" y="3157938"/>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プレイヤー中心？</a:t>
            </a:r>
          </a:p>
        </p:txBody>
      </p:sp>
      <p:sp>
        <p:nvSpPr>
          <p:cNvPr id="13" name="正方形/長方形 12">
            <a:extLst>
              <a:ext uri="{FF2B5EF4-FFF2-40B4-BE49-F238E27FC236}">
                <a16:creationId xmlns:a16="http://schemas.microsoft.com/office/drawing/2014/main" id="{38C67B24-CD77-2F9D-07D6-BAAFBFB33649}"/>
              </a:ext>
            </a:extLst>
          </p:cNvPr>
          <p:cNvSpPr/>
          <p:nvPr/>
        </p:nvSpPr>
        <p:spPr bwMode="auto">
          <a:xfrm>
            <a:off x="6707121" y="3173814"/>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t" anchorCtr="0" compatLnSpc="1">
            <a:prstTxWarp prst="textNoShape">
              <a:avLst/>
            </a:prstTxWarp>
          </a:bodyPr>
          <a:lstStyle/>
          <a:p>
            <a:pPr defTabSz="642979"/>
            <a:r>
              <a:rPr lang="ja-JP" altLang="en-US" sz="1125"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その他</a:t>
            </a:r>
          </a:p>
        </p:txBody>
      </p:sp>
      <p:sp>
        <p:nvSpPr>
          <p:cNvPr id="18" name="正方形/長方形 17">
            <a:extLst>
              <a:ext uri="{FF2B5EF4-FFF2-40B4-BE49-F238E27FC236}">
                <a16:creationId xmlns:a16="http://schemas.microsoft.com/office/drawing/2014/main" id="{56C5A608-702F-1C87-3FD6-9E00D4647B20}"/>
              </a:ext>
            </a:extLst>
          </p:cNvPr>
          <p:cNvSpPr/>
          <p:nvPr/>
        </p:nvSpPr>
        <p:spPr bwMode="auto">
          <a:xfrm>
            <a:off x="2445514" y="5055105"/>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あり</a:t>
            </a:r>
          </a:p>
        </p:txBody>
      </p:sp>
      <p:sp>
        <p:nvSpPr>
          <p:cNvPr id="19" name="四角形: 角を丸くする 32">
            <a:extLst>
              <a:ext uri="{FF2B5EF4-FFF2-40B4-BE49-F238E27FC236}">
                <a16:creationId xmlns:a16="http://schemas.microsoft.com/office/drawing/2014/main" id="{7121DAF6-5E9B-4D42-B9A8-1036911419B1}"/>
              </a:ext>
            </a:extLst>
          </p:cNvPr>
          <p:cNvSpPr/>
          <p:nvPr/>
        </p:nvSpPr>
        <p:spPr bwMode="auto">
          <a:xfrm>
            <a:off x="65874" y="4934087"/>
            <a:ext cx="2278378" cy="1026444"/>
          </a:xfrm>
          <a:prstGeom prst="roundRect">
            <a:avLst/>
          </a:prstGeom>
          <a:solidFill>
            <a:srgbClr val="CCFFFF"/>
          </a:solidFill>
          <a:ln w="3810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ミニマップ</a:t>
            </a:r>
            <a:endParaRPr lang="en-US" altLang="ja-JP" sz="2812"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endParaRPr>
          </a:p>
          <a:p>
            <a:pPr defTabSz="642979"/>
            <a:r>
              <a:rPr lang="ja-JP" altLang="en-US" sz="2812" dirty="0">
                <a:solidFill>
                  <a:srgbClr val="000000"/>
                </a:solidFill>
                <a:latin typeface="HGS創英角ｺﾞｼｯｸUB" panose="020B0900000000000000" pitchFamily="50" charset="-128"/>
                <a:ea typeface="HGS創英角ｺﾞｼｯｸUB" panose="020B0900000000000000" pitchFamily="50" charset="-128"/>
                <a:cs typeface="メイリオ" pitchFamily="50" charset="-128"/>
              </a:rPr>
              <a:t>は？</a:t>
            </a:r>
          </a:p>
        </p:txBody>
      </p:sp>
      <p:sp>
        <p:nvSpPr>
          <p:cNvPr id="20" name="正方形/長方形 19">
            <a:extLst>
              <a:ext uri="{FF2B5EF4-FFF2-40B4-BE49-F238E27FC236}">
                <a16:creationId xmlns:a16="http://schemas.microsoft.com/office/drawing/2014/main" id="{3F6849CB-8E38-F016-4295-AC5EB3DC822E}"/>
              </a:ext>
            </a:extLst>
          </p:cNvPr>
          <p:cNvSpPr/>
          <p:nvPr/>
        </p:nvSpPr>
        <p:spPr bwMode="auto">
          <a:xfrm>
            <a:off x="4576317" y="5066344"/>
            <a:ext cx="1974594" cy="874673"/>
          </a:xfrm>
          <a:prstGeom prst="rect">
            <a:avLst/>
          </a:prstGeom>
          <a:noFill/>
          <a:ln w="57150">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4301" tIns="32151" rIns="64301" bIns="32151" numCol="1" rtlCol="0" anchor="ctr" anchorCtr="0" compatLnSpc="1">
            <a:prstTxWarp prst="textNoShape">
              <a:avLst/>
            </a:prstTxWarp>
          </a:bodyPr>
          <a:lstStyle/>
          <a:p>
            <a:pPr defTabSz="642979"/>
            <a:r>
              <a:rPr lang="ja-JP" altLang="en-US" sz="2812"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なし</a:t>
            </a:r>
          </a:p>
        </p:txBody>
      </p:sp>
    </p:spTree>
    <p:extLst>
      <p:ext uri="{BB962C8B-B14F-4D97-AF65-F5344CB8AC3E}">
        <p14:creationId xmlns:p14="http://schemas.microsoft.com/office/powerpoint/2010/main" val="912513838"/>
      </p:ext>
    </p:extLst>
  </p:cSld>
  <p:clrMapOvr>
    <a:masterClrMapping/>
  </p:clrMapOvr>
</p:sld>
</file>

<file path=ppt/theme/theme1.xml><?xml version="1.0" encoding="utf-8"?>
<a:theme xmlns:a="http://schemas.openxmlformats.org/drawingml/2006/main" name="yuru_orginal">
  <a:themeElements>
    <a:clrScheme name="黄緑">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YuruCamp2023">
      <a:majorFont>
        <a:latin typeface="Arial"/>
        <a:ea typeface="BIZ UDゴシック"/>
        <a:cs typeface=""/>
      </a:majorFont>
      <a:minorFont>
        <a:latin typeface="Arial"/>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uru_orginal" id="{C1C0CC06-6A82-4B95-9D78-214D00E51981}" vid="{49F92C89-AD42-44EA-AA5B-E1BE6627DD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9922</TotalTime>
  <Words>842</Words>
  <Application>Microsoft Office PowerPoint</Application>
  <PresentationFormat>画面に合わせる (4:3)</PresentationFormat>
  <Paragraphs>162</Paragraphs>
  <Slides>14</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HGP行書体</vt:lpstr>
      <vt:lpstr>HGP創英角ｺﾞｼｯｸUB</vt:lpstr>
      <vt:lpstr>HGP創英角ﾎﾟｯﾌﾟ体</vt:lpstr>
      <vt:lpstr>HGS創英角ｺﾞｼｯｸUB</vt:lpstr>
      <vt:lpstr>游ゴシック</vt:lpstr>
      <vt:lpstr>Arial</vt:lpstr>
      <vt:lpstr>Calibri</vt:lpstr>
      <vt:lpstr>yuru_orginal</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自己紹介と研究紹介</dc:title>
  <dc:creator>大井翔</dc:creator>
  <cp:lastModifiedBy>保仁 馬場</cp:lastModifiedBy>
  <cp:revision>187</cp:revision>
  <dcterms:created xsi:type="dcterms:W3CDTF">2017-09-19T01:47:21Z</dcterms:created>
  <dcterms:modified xsi:type="dcterms:W3CDTF">2026-07-16T13:54:53Z</dcterms:modified>
</cp:coreProperties>
</file>